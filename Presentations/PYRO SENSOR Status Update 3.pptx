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keAB490DbKtPvJJzXc6qL+E5b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DC009D-F833-4127-B8F5-25BA7EC77336}">
  <a:tblStyle styleId="{10DC009D-F833-4127-B8F5-25BA7EC7733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535D810-54E1-4D0B-AACD-35DD4906508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i don’t think we need this slide</a:t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5a69ecd9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" name="Google Shape;104;g325a69ecd98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5a69ecd98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25a69ecd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5a69ecd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7" name="Google Shape;117;g325a69ecd98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5a69ecd98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25a69ecd9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c61f4353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could be merged to subsystem slides</a:t>
            </a:r>
            <a:endParaRPr/>
          </a:p>
        </p:txBody>
      </p:sp>
      <p:sp>
        <p:nvSpPr>
          <p:cNvPr id="131" name="Google Shape;131;g32c61f4353a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c61f4353a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2c61f4353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could be merged to subsystem slides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55a930a2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could be merged to subsystem slides</a:t>
            </a:r>
            <a:endParaRPr/>
          </a:p>
        </p:txBody>
      </p:sp>
      <p:sp>
        <p:nvSpPr>
          <p:cNvPr id="154" name="Google Shape;154;g3355a930a26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don’t think we need this slide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5a69ecd9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25a69ecd98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5a69ecd9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25a69ecd98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4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7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19250" y="3814625"/>
            <a:ext cx="7302600" cy="22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24: Pyro Sensor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350354"/>
              <a:buFont typeface="Arial"/>
              <a:buNone/>
            </a:pPr>
            <a:r>
              <a:rPr lang="en-US"/>
              <a:t>Bi-Weekly Update 3</a:t>
            </a:r>
            <a:br>
              <a:rPr lang="en-US"/>
            </a:br>
            <a:r>
              <a:rPr lang="en-US" sz="2455"/>
              <a:t>Alfonso Wong 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Martin Ford 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Oscar Hernandez</a:t>
            </a:r>
            <a:br>
              <a:rPr lang="en-US" sz="2455"/>
            </a:br>
            <a:r>
              <a:rPr lang="en-US" sz="2455"/>
              <a:t>Sponsor: Rhett Guthrie</a:t>
            </a:r>
            <a:br>
              <a:rPr lang="en-US" sz="2455"/>
            </a:br>
            <a:r>
              <a:rPr lang="en-US" sz="2455"/>
              <a:t>TA: Niloofar Borzooei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457200" y="2049275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Problem statement: </a:t>
            </a:r>
            <a:endParaRPr sz="24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Modern smoke detectors do not directly notify the emergency responders</a:t>
            </a:r>
            <a:endParaRPr sz="19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Fire department has limited data of residents in buildings</a:t>
            </a:r>
            <a:endParaRPr sz="1900"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Our Pyro Sensor will:</a:t>
            </a:r>
            <a:endParaRPr sz="24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Notify any user and emergency responders instantly through a mobile app of any incident</a:t>
            </a:r>
            <a:endParaRPr sz="1900"/>
          </a:p>
          <a:p>
            <a:pPr indent="-29210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–"/>
            </a:pPr>
            <a:r>
              <a:rPr lang="en-US" sz="1900"/>
              <a:t>Give fire department information about residents and pets</a:t>
            </a:r>
            <a:endParaRPr sz="1900"/>
          </a:p>
          <a:p>
            <a:pPr indent="0" lvl="0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600"/>
          </a:p>
        </p:txBody>
      </p:sp>
      <p:sp>
        <p:nvSpPr>
          <p:cNvPr id="67" name="Google Shape;67;p2"/>
          <p:cNvSpPr txBox="1"/>
          <p:nvPr/>
        </p:nvSpPr>
        <p:spPr>
          <a:xfrm>
            <a:off x="6204155" y="3185652"/>
            <a:ext cx="20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5550" y="3050475"/>
            <a:ext cx="4268449" cy="208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Project/Subsystem Overview 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2866103" y="2609720"/>
            <a:ext cx="3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0525" y="1942950"/>
            <a:ext cx="6073476" cy="3890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 txBox="1"/>
          <p:nvPr/>
        </p:nvSpPr>
        <p:spPr>
          <a:xfrm>
            <a:off x="177250" y="1943000"/>
            <a:ext cx="3117300" cy="3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Collects sensor data and sends it to microcontroller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 Software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Gets sensor data, calculates it and sends it to mobile 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Displays sensor information and will alert users and Fire Department</a:t>
            </a:r>
            <a:r>
              <a:rPr lang="en-US" sz="1800">
                <a:solidFill>
                  <a:schemeClr val="dk1"/>
                </a:solidFill>
              </a:rPr>
              <a:t> (through central dispatcher)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case of fire alert.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6"/>
              <a:buFont typeface="Arial"/>
              <a:buNone/>
            </a:pPr>
            <a:r>
              <a:rPr lang="en-US"/>
              <a:t>Major Project Changes for 404 </a:t>
            </a:r>
            <a:endParaRPr/>
          </a:p>
        </p:txBody>
      </p:sp>
      <p:sp>
        <p:nvSpPr>
          <p:cNvPr id="82" name="Google Shape;82;p4"/>
          <p:cNvSpPr txBox="1"/>
          <p:nvPr/>
        </p:nvSpPr>
        <p:spPr>
          <a:xfrm>
            <a:off x="846125" y="2320975"/>
            <a:ext cx="7014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 Software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‒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Alerting 911 central dispatcher instead of directly fire department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>
            <p:ph type="title"/>
          </p:nvPr>
        </p:nvSpPr>
        <p:spPr>
          <a:xfrm>
            <a:off x="457200" y="9647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 </a:t>
            </a:r>
            <a:endParaRPr/>
          </a:p>
        </p:txBody>
      </p:sp>
      <p:graphicFrame>
        <p:nvGraphicFramePr>
          <p:cNvPr id="88" name="Google Shape;88;p5"/>
          <p:cNvGraphicFramePr/>
          <p:nvPr/>
        </p:nvGraphicFramePr>
        <p:xfrm>
          <a:off x="1428750" y="176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{10DC009D-F833-4127-B8F5-25BA7EC77336}</a:tableStyleId>
              </a:tblPr>
              <a:tblGrid>
                <a:gridCol w="3429000"/>
                <a:gridCol w="952500"/>
                <a:gridCol w="952500"/>
                <a:gridCol w="952500"/>
              </a:tblGrid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02/03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</a:t>
                      </a:r>
                      <a:r>
                        <a:rPr b="1" lang="en-US" sz="1100"/>
                        <a:t>17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Date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0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App works in customers side, can create account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  <a:extLst>
                      <a:ext uri="http://customooxmlschemas.google.com/">
                        <go:slidesCustomData xmlns:go="http://customooxmlschemas.google.com/" cellId="8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/>
                        <a:t>0</a:t>
                      </a:r>
                      <a:r>
                        <a:rPr b="1" lang="en-US" sz="1100" u="none" cap="none" strike="noStrike"/>
                        <a:t>2/</a:t>
                      </a:r>
                      <a:r>
                        <a:rPr b="1" lang="en-US" sz="1100"/>
                        <a:t>17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workspace, display sensor info, read/write to database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  <a:extLst>
                      <a:ext uri="http://customooxmlschemas.google.com/">
                        <go:slidesCustomData xmlns:go="http://customooxmlschemas.google.com/" cellId="8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/>
                        <a:t>0</a:t>
                      </a:r>
                      <a:r>
                        <a:rPr b="1" lang="en-US" sz="1100" u="none" cap="none" strike="noStrike"/>
                        <a:t>2/</a:t>
                      </a:r>
                      <a:r>
                        <a:rPr b="1" lang="en-US" sz="1100"/>
                        <a:t>17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2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Power is successfully delivered to full PCB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/>
                        <a:t>0</a:t>
                      </a:r>
                      <a:r>
                        <a:rPr b="1" lang="en-US" sz="1100" u="none" cap="none" strike="noStrike"/>
                        <a:t>2/</a:t>
                      </a:r>
                      <a:r>
                        <a:rPr b="1" lang="en-US" sz="1100"/>
                        <a:t>17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3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Some sensors work and deliver signals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/>
                        <a:t>0</a:t>
                      </a:r>
                      <a:r>
                        <a:rPr b="1" lang="en-US" sz="1100" u="none" cap="none" strike="noStrike"/>
                        <a:t>2/</a:t>
                      </a:r>
                      <a:r>
                        <a:rPr b="1" lang="en-US" sz="1100"/>
                        <a:t>17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4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MCU code establishes connection with app’s subsystem database, and sends sensor data to it.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  <a:extLst>
                      <a:ext uri="http://customooxmlschemas.google.com/">
                        <go:slidesCustomData xmlns:go="http://customooxmlschemas.google.com/" cellId="8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</a:t>
                      </a:r>
                      <a:r>
                        <a:rPr b="1" lang="en-US" sz="1100"/>
                        <a:t>17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5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Fix PCB schematic mistakes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88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02/</a:t>
                      </a:r>
                      <a:r>
                        <a:rPr b="1" lang="en-US" sz="1100"/>
                        <a:t>17</a:t>
                      </a:r>
                      <a:endParaRPr b="1" sz="11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6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Fix/update notification System, picture upload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  <a:extLst>
                      <a:ext uri="http://customooxmlschemas.google.com/">
                        <go:slidesCustomData xmlns:go="http://customooxmlschemas.google.com/" cellId="8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03/03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7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Switch communication to centralized dispatcher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E0E3"/>
                    </a:solidFill>
                    <a:extLst>
                      <a:ext uri="http://customooxmlschemas.google.com/">
                        <go:slidesCustomData xmlns:go="http://customooxmlschemas.google.com/" cellId="88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  <a:extLst>
                      <a:ext uri="http://customooxmlschemas.google.com/">
                        <go:slidesCustomData xmlns:go="http://customooxmlschemas.google.com/" cellId="88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03/03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8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</a:t>
                      </a:r>
                      <a:r>
                        <a:rPr lang="en-US" sz="1400" u="none" cap="none" strike="noStrike"/>
                        <a:t>eorder and r</a:t>
                      </a:r>
                      <a:r>
                        <a:rPr lang="en-US" sz="1400" u="none" cap="none" strike="noStrike"/>
                        <a:t>esolder PCB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03/03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9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Ensure all sensor modules are functional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  <a:extLst>
                      <a:ext uri="http://customooxmlschemas.google.com/">
                        <go:slidesCustomData xmlns:go="http://customooxmlschemas.google.com/" cellId="88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03/03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0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Final MCU-app integration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  <a:extLst>
                      <a:ext uri="http://customooxmlschemas.google.com/">
                        <go:slidesCustomData xmlns:go="http://customooxmlschemas.google.com/" cellId="88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03/03</a:t>
                      </a:r>
                      <a:endParaRPr b="1" sz="11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1:3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PCB-MCU integration </a:t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  <a:extLst>
                      <a:ext uri="http://customooxmlschemas.google.com/">
                        <go:slidesCustomData xmlns:go="http://customooxmlschemas.google.com/" cellId="88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  <a:extLst>
                      <a:ext uri="http://customooxmlschemas.google.com/">
                        <go:slidesCustomData xmlns:go="http://customooxmlschemas.google.com/" cellId="88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03/03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88:12:3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Hardware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Martin Ford</a:t>
            </a:r>
            <a:endParaRPr sz="2980"/>
          </a:p>
        </p:txBody>
      </p:sp>
      <p:graphicFrame>
        <p:nvGraphicFramePr>
          <p:cNvPr id="94" name="Google Shape;94;p6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{10DC009D-F833-4127-B8F5-25BA7EC77336}</a:tableStyleId>
              </a:tblPr>
              <a:tblGrid>
                <a:gridCol w="3886200"/>
                <a:gridCol w="3886200"/>
              </a:tblGrid>
              <a:tr h="76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21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072050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Fix schematic errors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Order new PCB and parts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R</a:t>
                      </a:r>
                      <a:r>
                        <a:rPr lang="en-US" sz="1800" u="none" cap="none" strike="noStrike"/>
                        <a:t>esolder PCB</a:t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Validate PCB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idx="1" type="body"/>
          </p:nvPr>
        </p:nvSpPr>
        <p:spPr>
          <a:xfrm>
            <a:off x="457200" y="2049275"/>
            <a:ext cx="47445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works: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Power distribution to full PCB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Speaker makes sound from signal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Sensor modules deliver signal to microcontroller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does not work: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Speaker sound needs greater amplification</a:t>
            </a:r>
            <a:endParaRPr sz="1800"/>
          </a:p>
        </p:txBody>
      </p:sp>
      <p:sp>
        <p:nvSpPr>
          <p:cNvPr id="100" name="Google Shape;100;p7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Hardware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Martin Ford</a:t>
            </a:r>
            <a:endParaRPr sz="2980"/>
          </a:p>
        </p:txBody>
      </p:sp>
      <p:pic>
        <p:nvPicPr>
          <p:cNvPr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1604" y="2087800"/>
            <a:ext cx="3485201" cy="399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5a69ecd98_0_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Microcontroller Software Subsystem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Oscar Hernandez</a:t>
            </a:r>
            <a:endParaRPr sz="2980"/>
          </a:p>
        </p:txBody>
      </p:sp>
      <p:graphicFrame>
        <p:nvGraphicFramePr>
          <p:cNvPr id="107" name="Google Shape;107;g325a69ecd98_0_3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{10DC009D-F833-4127-B8F5-25BA7EC77336}</a:tableStyleId>
              </a:tblPr>
              <a:tblGrid>
                <a:gridCol w="4103750"/>
                <a:gridCol w="366865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34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r>
                        <a:rPr lang="en-US" sz="1800" u="none" cap="none" strike="noStrike"/>
                        <a:t>                   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Completed integration of MCU with app’s Firebase GUI.</a:t>
                      </a:r>
                      <a:endParaRPr sz="1800"/>
                    </a:p>
                    <a:p>
                      <a:pPr indent="-342900" lvl="0" marL="22860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Added reset functionality.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Updated alarm component from speaker to active buzzer as per PCB redesign.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Update constants and global variables from hardware calibration results.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g325a69ecd98_0_3"/>
          <p:cNvSpPr txBox="1"/>
          <p:nvPr/>
        </p:nvSpPr>
        <p:spPr>
          <a:xfrm>
            <a:off x="1533235" y="5015346"/>
            <a:ext cx="63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5a69ecd98_0_9"/>
          <p:cNvSpPr txBox="1"/>
          <p:nvPr>
            <p:ph type="title"/>
          </p:nvPr>
        </p:nvSpPr>
        <p:spPr>
          <a:xfrm>
            <a:off x="609600" y="1201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Microcontroller Software Subsystem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Oscar Hernandez</a:t>
            </a:r>
            <a:endParaRPr sz="2980"/>
          </a:p>
        </p:txBody>
      </p:sp>
      <p:pic>
        <p:nvPicPr>
          <p:cNvPr id="114" name="Google Shape;114;g325a69ecd9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50" y="2005277"/>
            <a:ext cx="8498309" cy="4547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5a69ecd98_0_1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Application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Alfonso Wong</a:t>
            </a:r>
            <a:endParaRPr sz="2980"/>
          </a:p>
        </p:txBody>
      </p:sp>
      <p:graphicFrame>
        <p:nvGraphicFramePr>
          <p:cNvPr id="120" name="Google Shape;120;g325a69ecd98_0_15"/>
          <p:cNvGraphicFramePr/>
          <p:nvPr/>
        </p:nvGraphicFramePr>
        <p:xfrm>
          <a:off x="3845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{10DC009D-F833-4127-B8F5-25BA7EC77336}</a:tableStyleId>
              </a:tblPr>
              <a:tblGrid>
                <a:gridCol w="4192725"/>
                <a:gridCol w="4192725"/>
              </a:tblGrid>
              <a:tr h="1016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40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359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 u="none" cap="none" strike="noStrike"/>
                        <a:t>The mobile application is back up and running and able to pull data from the database (Firebase)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 u="none" cap="none" strike="noStrike"/>
                        <a:t>MCU can access mobile app database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 u="none" cap="none" strike="noStrike"/>
                        <a:t>UI feature for adding device to app finished</a:t>
                      </a:r>
                      <a:endParaRPr sz="1600" u="none" cap="none" strike="noStrike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●"/>
                      </a:pPr>
                      <a:r>
                        <a:rPr lang="en-US" sz="1600" u="none" cap="none" strike="noStrike"/>
                        <a:t>Pictures can know be uploaded</a:t>
                      </a:r>
                      <a:endParaRPr sz="1600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App creates access code during workspace creation</a:t>
                      </a:r>
                      <a:endParaRPr sz="1600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Firefighter’s sign in page</a:t>
                      </a:r>
                      <a:endParaRPr sz="1600"/>
                    </a:p>
                    <a:p>
                      <a:pPr indent="-3302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n-US" sz="1600"/>
                        <a:t>Alert text message to central dispatcher(Twilio API)</a:t>
                      </a:r>
                      <a:endParaRPr sz="16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Fixing in-app view for firefighters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Fire tracking feature with real-time data provided by MCU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5a69ecd98_0_21"/>
          <p:cNvSpPr txBox="1"/>
          <p:nvPr>
            <p:ph type="title"/>
          </p:nvPr>
        </p:nvSpPr>
        <p:spPr>
          <a:xfrm>
            <a:off x="609600" y="9597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Application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Alfonso Wong</a:t>
            </a:r>
            <a:endParaRPr sz="2980"/>
          </a:p>
        </p:txBody>
      </p:sp>
      <p:pic>
        <p:nvPicPr>
          <p:cNvPr id="126" name="Google Shape;126;g325a69ecd98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00" y="1763450"/>
            <a:ext cx="2337673" cy="509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325a69ecd98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7448" y="1763450"/>
            <a:ext cx="2304350" cy="509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25a69ecd98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3525" y="1740896"/>
            <a:ext cx="2337675" cy="511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c61f4353a_0_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Hardware-MCU Integration</a:t>
            </a:r>
            <a:endParaRPr sz="2980"/>
          </a:p>
        </p:txBody>
      </p:sp>
      <p:graphicFrame>
        <p:nvGraphicFramePr>
          <p:cNvPr id="134" name="Google Shape;134;g32c61f4353a_0_1"/>
          <p:cNvGraphicFramePr/>
          <p:nvPr/>
        </p:nvGraphicFramePr>
        <p:xfrm>
          <a:off x="699025" y="219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{10DC009D-F833-4127-B8F5-25BA7EC77336}</a:tableStyleId>
              </a:tblPr>
              <a:tblGrid>
                <a:gridCol w="3964150"/>
                <a:gridCol w="3964150"/>
              </a:tblGrid>
              <a:tr h="80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169300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Flash ESP32 with code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Read sensor signals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Read battery power level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Deliver speaker alarm signal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Signal calibration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g32c61f4353a_0_1"/>
          <p:cNvSpPr txBox="1"/>
          <p:nvPr/>
        </p:nvSpPr>
        <p:spPr>
          <a:xfrm>
            <a:off x="1533235" y="5015346"/>
            <a:ext cx="63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2c61f4353a_0_1"/>
          <p:cNvSpPr txBox="1"/>
          <p:nvPr/>
        </p:nvSpPr>
        <p:spPr>
          <a:xfrm>
            <a:off x="2586575" y="1697550"/>
            <a:ext cx="415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Martin Ford and </a:t>
            </a:r>
            <a:r>
              <a:rPr lang="en-US" sz="2000">
                <a:solidFill>
                  <a:schemeClr val="dk1"/>
                </a:solidFill>
              </a:rPr>
              <a:t>Oscar Hernandez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c61f4353a_0_7"/>
          <p:cNvSpPr txBox="1"/>
          <p:nvPr>
            <p:ph idx="1" type="body"/>
          </p:nvPr>
        </p:nvSpPr>
        <p:spPr>
          <a:xfrm>
            <a:off x="443950" y="2293975"/>
            <a:ext cx="47445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works: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MCU reads </a:t>
            </a:r>
            <a:r>
              <a:rPr lang="en-US" sz="1800"/>
              <a:t>sensor signals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MCU reads battery power level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MCU sends speaker alarm signal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What does not work: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Signal readings need to be calibrated further</a:t>
            </a:r>
            <a:endParaRPr sz="18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IR and UV sensor signals readings are linked but should be individual</a:t>
            </a:r>
            <a:endParaRPr sz="1800"/>
          </a:p>
        </p:txBody>
      </p:sp>
      <p:sp>
        <p:nvSpPr>
          <p:cNvPr id="142" name="Google Shape;142;g32c61f4353a_0_7"/>
          <p:cNvSpPr txBox="1"/>
          <p:nvPr>
            <p:ph type="title"/>
          </p:nvPr>
        </p:nvSpPr>
        <p:spPr>
          <a:xfrm>
            <a:off x="609600" y="8938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Hardware-MCU Integration</a:t>
            </a:r>
            <a:endParaRPr/>
          </a:p>
        </p:txBody>
      </p:sp>
      <p:sp>
        <p:nvSpPr>
          <p:cNvPr id="143" name="Google Shape;143;g32c61f4353a_0_7"/>
          <p:cNvSpPr txBox="1"/>
          <p:nvPr/>
        </p:nvSpPr>
        <p:spPr>
          <a:xfrm>
            <a:off x="2586575" y="1393350"/>
            <a:ext cx="415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Martin Ford and Oscar Hernandez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44" name="Google Shape;144;g32c61f4353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834701"/>
            <a:ext cx="2981591" cy="156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2c61f4353a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2325" y="4965662"/>
            <a:ext cx="2520515" cy="13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2c61f4353a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5875" y="4834700"/>
            <a:ext cx="3049574" cy="156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2c61f4353a_0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8650" y="1885948"/>
            <a:ext cx="2806675" cy="21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2c61f4353a_0_7"/>
          <p:cNvSpPr txBox="1"/>
          <p:nvPr/>
        </p:nvSpPr>
        <p:spPr>
          <a:xfrm>
            <a:off x="529075" y="6180900"/>
            <a:ext cx="298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IR &amp; UV signals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9" name="Google Shape;149;g32c61f4353a_0_7"/>
          <p:cNvSpPr txBox="1"/>
          <p:nvPr/>
        </p:nvSpPr>
        <p:spPr>
          <a:xfrm>
            <a:off x="3172325" y="6180900"/>
            <a:ext cx="2981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Gas sensor</a:t>
            </a:r>
            <a:r>
              <a:rPr lang="en-US" sz="1600">
                <a:solidFill>
                  <a:schemeClr val="dk1"/>
                </a:solidFill>
              </a:rPr>
              <a:t> signal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0" name="Google Shape;150;g32c61f4353a_0_7"/>
          <p:cNvSpPr txBox="1"/>
          <p:nvPr/>
        </p:nvSpPr>
        <p:spPr>
          <a:xfrm>
            <a:off x="5268150" y="6196350"/>
            <a:ext cx="32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Battery power</a:t>
            </a:r>
            <a:r>
              <a:rPr lang="en-US">
                <a:solidFill>
                  <a:schemeClr val="dk1"/>
                </a:solidFill>
              </a:rPr>
              <a:t> (test 9V dropped to 7V)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" name="Google Shape;151;g32c61f4353a_0_7"/>
          <p:cNvSpPr txBox="1"/>
          <p:nvPr/>
        </p:nvSpPr>
        <p:spPr>
          <a:xfrm>
            <a:off x="5668657" y="4068475"/>
            <a:ext cx="2806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Speaker alarm signal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55a930a26_0_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MCU-App Integration</a:t>
            </a:r>
            <a:endParaRPr sz="2980"/>
          </a:p>
        </p:txBody>
      </p:sp>
      <p:graphicFrame>
        <p:nvGraphicFramePr>
          <p:cNvPr id="157" name="Google Shape;157;g3355a930a26_0_1"/>
          <p:cNvGraphicFramePr/>
          <p:nvPr/>
        </p:nvGraphicFramePr>
        <p:xfrm>
          <a:off x="699025" y="219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{10DC009D-F833-4127-B8F5-25BA7EC77336}</a:tableStyleId>
              </a:tblPr>
              <a:tblGrid>
                <a:gridCol w="3964150"/>
                <a:gridCol w="3964150"/>
              </a:tblGrid>
              <a:tr h="80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                       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r>
                        <a:rPr lang="en-US" sz="1800" u="none" cap="none" strike="noStrike">
                          <a:solidFill>
                            <a:srgbClr val="FF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169300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MCU can access user’s sensor data and write to it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App can pull real-time data from database written by MCU.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MCU can reset itself as per app request.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 u="none" cap="none" strike="noStrike"/>
                        <a:t>Contact between MCU and mobile app using bluetooth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Provide information from mobile app to MCU during bluetooth connection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g3355a930a26_0_1"/>
          <p:cNvSpPr txBox="1"/>
          <p:nvPr/>
        </p:nvSpPr>
        <p:spPr>
          <a:xfrm>
            <a:off x="1533235" y="5015346"/>
            <a:ext cx="63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355a930a26_0_1"/>
          <p:cNvSpPr txBox="1"/>
          <p:nvPr/>
        </p:nvSpPr>
        <p:spPr>
          <a:xfrm>
            <a:off x="2392500" y="1697550"/>
            <a:ext cx="43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Oscar Hernandez and Alfonso Wong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Parts Ordering Status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697400" y="1968806"/>
            <a:ext cx="75411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Subsystem Parts Status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</a:rPr>
              <a:t>New PCB and parts are ordered and on the way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Microcontroller and Network Subsystem Parts Status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 additional MCUs to simulate network nodes (rooms) as needed.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Application Subsystem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needed, I will pay for the subscription to APIs. (~$2/month)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457200" y="7328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&amp; Plan</a:t>
            </a:r>
            <a:endParaRPr/>
          </a:p>
        </p:txBody>
      </p:sp>
      <p:pic>
        <p:nvPicPr>
          <p:cNvPr id="171" name="Google Shape;1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0477"/>
            <a:ext cx="9144003" cy="380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225" y="5448725"/>
            <a:ext cx="6999726" cy="108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472836"/>
            <a:ext cx="9144000" cy="3799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5a69ecd98_0_33"/>
          <p:cNvSpPr txBox="1"/>
          <p:nvPr>
            <p:ph type="title"/>
          </p:nvPr>
        </p:nvSpPr>
        <p:spPr>
          <a:xfrm>
            <a:off x="457200" y="7747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79" name="Google Shape;179;g325a69ecd98_0_33"/>
          <p:cNvGraphicFramePr/>
          <p:nvPr/>
        </p:nvGraphicFramePr>
        <p:xfrm>
          <a:off x="522225" y="1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{B535D810-54E1-4D0B-AACD-35DD49065085}</a:tableStyleId>
              </a:tblPr>
              <a:tblGrid>
                <a:gridCol w="974875"/>
                <a:gridCol w="1509225"/>
                <a:gridCol w="3249675"/>
                <a:gridCol w="791750"/>
                <a:gridCol w="1317150"/>
              </a:tblGrid>
              <a:tr h="55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Paragraph #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Test Name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Success Criteria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Status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Responsible Engineers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Sensor Functionality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Sensors detect smoke/flame at expected ranges and output a signal.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3.2.2.6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Speaker Functionality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Speaker emits sound from signal at &gt;</a:t>
                      </a:r>
                      <a:r>
                        <a:rPr lang="en-US" sz="1000"/>
                        <a:t>65</a:t>
                      </a:r>
                      <a:r>
                        <a:rPr lang="en-US" sz="1000" u="none" cap="none" strike="noStrike"/>
                        <a:t> dB.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3.2.2.5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Operating Time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System operates and receives full power continuously for 1 hour on each power source. 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      3.2.1.4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             Network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 MCU is able to aggregate </a:t>
                      </a:r>
                      <a:r>
                        <a:rPr lang="en-US" sz="1000"/>
                        <a:t>data from sensors</a:t>
                      </a:r>
                      <a:r>
                        <a:rPr lang="en-US" sz="1000" u="none" cap="none" strike="noStrike"/>
                        <a:t> to </a:t>
                      </a:r>
                      <a:r>
                        <a:rPr lang="en-US" sz="1000"/>
                        <a:t>a Access Point</a:t>
                      </a:r>
                      <a:r>
                        <a:rPr lang="en-US" sz="1000" u="none" cap="none" strike="noStrike"/>
                        <a:t>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3.2.1.14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Trouble Signal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sends trouble signal to app for malfunction</a:t>
                      </a:r>
                      <a:r>
                        <a:rPr lang="en-US" sz="1000"/>
                        <a:t>s.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354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3.2.1.8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User Profile Creation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User is able to create an account and be able to sign in.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Alfonso Wong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3.2.1.9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Push Notifications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Be able to push notifications to users and send text </a:t>
                      </a:r>
                      <a:r>
                        <a:rPr lang="en-US" sz="1000"/>
                        <a:t>to</a:t>
                      </a:r>
                      <a:r>
                        <a:rPr lang="en-US" sz="1000" u="none" cap="none" strike="noStrike"/>
                        <a:t> </a:t>
                      </a:r>
                      <a:r>
                        <a:rPr lang="en-US" sz="1000"/>
                        <a:t>central dispatcher</a:t>
                      </a:r>
                      <a:r>
                        <a:rPr lang="en-US" sz="1000" u="none" cap="none" strike="noStrike"/>
                        <a:t>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T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3.2.1.10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Design UI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Have a working UI and test with emulator.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3.2.1.11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Integrate Cloud Service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Mobile app has ability to pull data from cloud service and display it.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5a69ecd98_0_83"/>
          <p:cNvSpPr txBox="1"/>
          <p:nvPr>
            <p:ph type="title"/>
          </p:nvPr>
        </p:nvSpPr>
        <p:spPr>
          <a:xfrm>
            <a:off x="457200" y="7747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85" name="Google Shape;185;g325a69ecd98_0_83"/>
          <p:cNvGraphicFramePr/>
          <p:nvPr/>
        </p:nvGraphicFramePr>
        <p:xfrm>
          <a:off x="522225" y="149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{B535D810-54E1-4D0B-AACD-35DD49065085}</a:tableStyleId>
              </a:tblPr>
              <a:tblGrid>
                <a:gridCol w="990025"/>
                <a:gridCol w="1604525"/>
                <a:gridCol w="3139225"/>
                <a:gridCol w="791750"/>
                <a:gridCol w="1317150"/>
              </a:tblGrid>
              <a:tr h="55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Paragraph #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Test Name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Success Criteria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Status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Responsible Engineers</a:t>
                      </a:r>
                      <a:endParaRPr b="1" sz="12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3.2.1.6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App compatible on Android devices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App can be used on most Android devices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Alfonso Wong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3.2.1.1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Peripherals Interface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MCU reads signals from all sensors, and activates/deactivates alarm.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Martin Ford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5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3.2.1.12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Device and Application Communication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Device(sensor) can be added to user profile in application.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3.2.2.13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Real Time Communication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 is feeding constant information to database and it is being displayed in real time in mobile application.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3.2.1.9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Trigger Warning from MC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MC must send a tigger alert of ongoing event and application must send notification to user and dispatch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Alfonso Wong &amp; Oscar Hernandez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  <a:tr h="49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3.2.1.5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Early Fire Detection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The system reduces the propagation of a fire by minimizing false alarms and notifying the user or fire department as soon as a fire is detected.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Untested</a:t>
                      </a:r>
                      <a:endParaRPr sz="1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All</a:t>
                      </a:r>
                      <a:endParaRPr sz="10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/>
          <p:nvPr>
            <p:ph idx="1" type="body"/>
          </p:nvPr>
        </p:nvSpPr>
        <p:spPr>
          <a:xfrm>
            <a:off x="457200" y="1107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Thank you for your attention!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Questions?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