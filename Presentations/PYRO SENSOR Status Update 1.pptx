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3" roundtripDataSignature="AMtx7mg1Qj9mS3TCLbkeHI4PN5E0zUVs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4434EB-0600-44F3-844D-F21A3910962E}">
  <a:tblStyle styleId="{CB4434EB-0600-44F3-844D-F21A3910962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C42FE31-0953-4F3C-ACFC-C735F2E23593}"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Michelle</a:t>
            </a:r>
            <a:endParaRPr/>
          </a:p>
        </p:txBody>
      </p:sp>
      <p:sp>
        <p:nvSpPr>
          <p:cNvPr id="56" name="Google Shape;5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Kyle</a:t>
            </a:r>
            <a:endParaRPr/>
          </a:p>
        </p:txBody>
      </p:sp>
      <p:sp>
        <p:nvSpPr>
          <p:cNvPr id="63" name="Google Shape;6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Eric</a:t>
            </a:r>
            <a:endParaRPr/>
          </a:p>
        </p:txBody>
      </p:sp>
      <p:sp>
        <p:nvSpPr>
          <p:cNvPr id="71" name="Google Shape;7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Eric</a:t>
            </a:r>
            <a:endParaRPr/>
          </a:p>
        </p:txBody>
      </p:sp>
      <p:sp>
        <p:nvSpPr>
          <p:cNvPr id="79" name="Google Shape;7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Eric</a:t>
            </a:r>
            <a:endParaRPr/>
          </a:p>
        </p:txBody>
      </p:sp>
      <p:sp>
        <p:nvSpPr>
          <p:cNvPr id="85" name="Google Shape;8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91" name="Google Shape;9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25a69ecd98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04" name="Google Shape;104;g325a69ecd98_0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25a69ecd98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325a69ecd98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5a69ecd98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19" name="Google Shape;119;g325a69ecd98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5a69ecd98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325a69ecd98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US"/>
              <a:t>Michelle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US"/>
              <a:t>Michelle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25a69ecd98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25a69ecd98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25a69ecd98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325a69ecd98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12"/>
          <p:cNvSpPr txBox="1"/>
          <p:nvPr>
            <p:ph type="ctrTitle"/>
          </p:nvPr>
        </p:nvSpPr>
        <p:spPr>
          <a:xfrm>
            <a:off x="3969582" y="2130425"/>
            <a:ext cx="4488617" cy="14700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3600"/>
              <a:buFont typeface="Arial"/>
              <a:buNone/>
              <a:defRPr b="1"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3124200" y="3886200"/>
            <a:ext cx="5333999" cy="1752600"/>
          </a:xfrm>
          <a:prstGeom prst="rect">
            <a:avLst/>
          </a:prstGeom>
          <a:noFill/>
          <a:ln>
            <a:noFill/>
          </a:ln>
        </p:spPr>
        <p:txBody>
          <a:bodyPr anchorCtr="0" anchor="t" bIns="45700" lIns="91425" spcFirstLastPara="1" rIns="91425" wrap="square" tIns="45700">
            <a:normAutofit/>
          </a:bodyPr>
          <a:lstStyle>
            <a:lvl1pPr lvl="0" algn="r">
              <a:spcBef>
                <a:spcPts val="560"/>
              </a:spcBef>
              <a:spcAft>
                <a:spcPts val="0"/>
              </a:spcAft>
              <a:buClr>
                <a:srgbClr val="FFFFFF"/>
              </a:buClr>
              <a:buSzPts val="2800"/>
              <a:buNone/>
              <a:defRPr sz="2800">
                <a:solidFill>
                  <a:srgbClr val="FFFFF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13"/>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Aria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2049270"/>
            <a:ext cx="8229600" cy="407689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DLCOE_logo_HWHT.png" id="27" name="Google Shape;27;p13"/>
          <p:cNvPicPr preferRelativeResize="0"/>
          <p:nvPr/>
        </p:nvPicPr>
        <p:blipFill rotWithShape="1">
          <a:blip r:embed="rId3">
            <a:alphaModFix/>
          </a:blip>
          <a:srcRect b="0" l="0" r="0" t="0"/>
          <a:stretch/>
        </p:blipFill>
        <p:spPr>
          <a:xfrm>
            <a:off x="450851" y="234146"/>
            <a:ext cx="2443865" cy="41260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14"/>
          <p:cNvSpPr txBox="1"/>
          <p:nvPr>
            <p:ph idx="1" type="body"/>
          </p:nvPr>
        </p:nvSpPr>
        <p:spPr>
          <a:xfrm>
            <a:off x="457200" y="1975644"/>
            <a:ext cx="4038600" cy="4150519"/>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14"/>
          <p:cNvSpPr txBox="1"/>
          <p:nvPr>
            <p:ph idx="2" type="body"/>
          </p:nvPr>
        </p:nvSpPr>
        <p:spPr>
          <a:xfrm>
            <a:off x="4648200" y="1975644"/>
            <a:ext cx="4038600" cy="4150519"/>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1" name="Google Shape;3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14"/>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Aria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15"/>
          <p:cNvSpPr txBox="1"/>
          <p:nvPr>
            <p:ph type="title"/>
          </p:nvPr>
        </p:nvSpPr>
        <p:spPr>
          <a:xfrm>
            <a:off x="457200" y="2900649"/>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Arial"/>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1066968"/>
            <a:ext cx="3008313" cy="7368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3575050" y="1073720"/>
            <a:ext cx="5111750" cy="505244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b="1" sz="28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3" name="Google Shape;43;p16"/>
          <p:cNvSpPr txBox="1"/>
          <p:nvPr>
            <p:ph idx="2" type="body"/>
          </p:nvPr>
        </p:nvSpPr>
        <p:spPr>
          <a:xfrm>
            <a:off x="457200" y="1803850"/>
            <a:ext cx="3008313" cy="4322314"/>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4" name="Google Shape;4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7" name="Shape 47"/>
        <p:cNvGrpSpPr/>
        <p:nvPr/>
      </p:nvGrpSpPr>
      <p:grpSpPr>
        <a:xfrm>
          <a:off x="0" y="0"/>
          <a:ext cx="0" cy="0"/>
          <a:chOff x="0" y="0"/>
          <a:chExt cx="0" cy="0"/>
        </a:xfrm>
      </p:grpSpPr>
      <p:sp>
        <p:nvSpPr>
          <p:cNvPr id="48" name="Google Shape;48;p17"/>
          <p:cNvSpPr txBox="1"/>
          <p:nvPr>
            <p:ph type="title"/>
          </p:nvPr>
        </p:nvSpPr>
        <p:spPr>
          <a:xfrm>
            <a:off x="457200" y="1196430"/>
            <a:ext cx="2573672"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1800"/>
              <a:buFont typeface="Arial"/>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7"/>
          <p:cNvSpPr/>
          <p:nvPr>
            <p:ph idx="2" type="pic"/>
          </p:nvPr>
        </p:nvSpPr>
        <p:spPr>
          <a:xfrm>
            <a:off x="3200400" y="1196430"/>
            <a:ext cx="5486400" cy="4850287"/>
          </a:xfrm>
          <a:prstGeom prst="rect">
            <a:avLst/>
          </a:prstGeom>
          <a:noFill/>
          <a:ln>
            <a:noFill/>
          </a:ln>
        </p:spPr>
      </p:sp>
      <p:sp>
        <p:nvSpPr>
          <p:cNvPr id="50" name="Google Shape;50;p17"/>
          <p:cNvSpPr txBox="1"/>
          <p:nvPr>
            <p:ph idx="1" type="body"/>
          </p:nvPr>
        </p:nvSpPr>
        <p:spPr>
          <a:xfrm>
            <a:off x="457200" y="1768043"/>
            <a:ext cx="2573672" cy="427867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type="ctrTitle"/>
          </p:nvPr>
        </p:nvSpPr>
        <p:spPr>
          <a:xfrm>
            <a:off x="1619250" y="3814625"/>
            <a:ext cx="7302600" cy="22968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100000"/>
              </a:lnSpc>
              <a:spcBef>
                <a:spcPts val="0"/>
              </a:spcBef>
              <a:spcAft>
                <a:spcPts val="0"/>
              </a:spcAft>
              <a:buClr>
                <a:schemeClr val="lt1"/>
              </a:buClr>
              <a:buSzPct val="111111"/>
              <a:buFont typeface="Arial"/>
              <a:buNone/>
            </a:pPr>
            <a:r>
              <a:rPr lang="en-US"/>
              <a:t>Team 24: Pyro Sensor</a:t>
            </a:r>
            <a:endParaRPr/>
          </a:p>
          <a:p>
            <a:pPr indent="0" lvl="0" marL="0" rtl="0" algn="r">
              <a:lnSpc>
                <a:spcPct val="100000"/>
              </a:lnSpc>
              <a:spcBef>
                <a:spcPts val="0"/>
              </a:spcBef>
              <a:spcAft>
                <a:spcPts val="0"/>
              </a:spcAft>
              <a:buClr>
                <a:schemeClr val="lt1"/>
              </a:buClr>
              <a:buSzPct val="162932"/>
              <a:buFont typeface="Arial"/>
              <a:buNone/>
            </a:pPr>
            <a:r>
              <a:rPr lang="en-US"/>
              <a:t>Bi-Weekly Update 1</a:t>
            </a:r>
            <a:br>
              <a:rPr lang="en-US"/>
            </a:br>
            <a:r>
              <a:rPr lang="en-US" sz="2455"/>
              <a:t>Alfonso Wong </a:t>
            </a:r>
            <a:endParaRPr sz="2455"/>
          </a:p>
          <a:p>
            <a:pPr indent="0" lvl="0" marL="0" rtl="0" algn="r">
              <a:lnSpc>
                <a:spcPct val="100000"/>
              </a:lnSpc>
              <a:spcBef>
                <a:spcPts val="0"/>
              </a:spcBef>
              <a:spcAft>
                <a:spcPts val="0"/>
              </a:spcAft>
              <a:buClr>
                <a:schemeClr val="lt1"/>
              </a:buClr>
              <a:buSzPct val="162932"/>
              <a:buFont typeface="Arial"/>
              <a:buNone/>
            </a:pPr>
            <a:r>
              <a:rPr lang="en-US" sz="2455"/>
              <a:t>Martin Ford </a:t>
            </a:r>
            <a:endParaRPr sz="2455"/>
          </a:p>
          <a:p>
            <a:pPr indent="0" lvl="0" marL="0" rtl="0" algn="r">
              <a:lnSpc>
                <a:spcPct val="100000"/>
              </a:lnSpc>
              <a:spcBef>
                <a:spcPts val="0"/>
              </a:spcBef>
              <a:spcAft>
                <a:spcPts val="0"/>
              </a:spcAft>
              <a:buClr>
                <a:schemeClr val="lt1"/>
              </a:buClr>
              <a:buSzPct val="162932"/>
              <a:buFont typeface="Arial"/>
              <a:buNone/>
            </a:pPr>
            <a:r>
              <a:rPr lang="en-US" sz="2455"/>
              <a:t>Oscar Hernandez</a:t>
            </a:r>
            <a:br>
              <a:rPr lang="en-US" sz="2455"/>
            </a:br>
            <a:r>
              <a:rPr lang="en-US" sz="2455"/>
              <a:t>Sponsor: Rhett Guthrie</a:t>
            </a:r>
            <a:br>
              <a:rPr lang="en-US" sz="2455"/>
            </a:br>
            <a:r>
              <a:rPr lang="en-US" sz="2455"/>
              <a:t>TA: TBA</a:t>
            </a:r>
            <a:br>
              <a:rPr lang="en-US" sz="2455"/>
            </a:br>
            <a:endParaRPr sz="2455"/>
          </a:p>
        </p:txBody>
      </p:sp>
      <p:sp>
        <p:nvSpPr>
          <p:cNvPr id="59" name="Google Shape;59;p1"/>
          <p:cNvSpPr/>
          <p:nvPr/>
        </p:nvSpPr>
        <p:spPr>
          <a:xfrm>
            <a:off x="0" y="0"/>
            <a:ext cx="6111425" cy="6111425"/>
          </a:xfrm>
          <a:prstGeom prst="diagStripe">
            <a:avLst>
              <a:gd fmla="val 28990" name="adj"/>
            </a:avLst>
          </a:prstGeom>
          <a:blipFill rotWithShape="1">
            <a:blip r:embed="rId3">
              <a:alphaModFix/>
            </a:blip>
            <a:stretch>
              <a:fillRect b="0" l="0" r="0" t="0"/>
            </a:stretch>
          </a:blipFill>
          <a:ln>
            <a:noFill/>
          </a:ln>
          <a:effectLst>
            <a:outerShdw blurRad="193675" rotWithShape="0" dir="5400000" dist="23000">
              <a:srgbClr val="00000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DLCOE_logo_HWHT.png" id="60" name="Google Shape;60;p1"/>
          <p:cNvPicPr preferRelativeResize="0"/>
          <p:nvPr/>
        </p:nvPicPr>
        <p:blipFill rotWithShape="1">
          <a:blip r:embed="rId4">
            <a:alphaModFix/>
          </a:blip>
          <a:srcRect b="0" l="0" r="0" t="0"/>
          <a:stretch/>
        </p:blipFill>
        <p:spPr>
          <a:xfrm>
            <a:off x="5344000" y="1105318"/>
            <a:ext cx="3114199" cy="5257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lang="en-US"/>
              <a:t>Project Summary</a:t>
            </a:r>
            <a:endParaRPr/>
          </a:p>
        </p:txBody>
      </p:sp>
      <p:sp>
        <p:nvSpPr>
          <p:cNvPr id="66" name="Google Shape;66;p2"/>
          <p:cNvSpPr txBox="1"/>
          <p:nvPr>
            <p:ph idx="1" type="body"/>
          </p:nvPr>
        </p:nvSpPr>
        <p:spPr>
          <a:xfrm>
            <a:off x="457200" y="2049275"/>
            <a:ext cx="4532100" cy="4637400"/>
          </a:xfrm>
          <a:prstGeom prst="rect">
            <a:avLst/>
          </a:prstGeom>
          <a:noFill/>
          <a:ln>
            <a:noFill/>
          </a:ln>
        </p:spPr>
        <p:txBody>
          <a:bodyPr anchorCtr="0" anchor="t" bIns="45700" lIns="91425" spcFirstLastPara="1" rIns="91425" wrap="square" tIns="45700">
            <a:normAutofit/>
          </a:bodyPr>
          <a:lstStyle/>
          <a:p>
            <a:pPr indent="-381000" lvl="0" marL="342900" rtl="0" algn="l">
              <a:spcBef>
                <a:spcPts val="0"/>
              </a:spcBef>
              <a:spcAft>
                <a:spcPts val="0"/>
              </a:spcAft>
              <a:buSzPts val="2400"/>
              <a:buChar char="•"/>
            </a:pPr>
            <a:r>
              <a:rPr lang="en-US" sz="2400"/>
              <a:t>Problem statement: </a:t>
            </a:r>
            <a:endParaRPr sz="2400"/>
          </a:p>
          <a:p>
            <a:pPr indent="-292100" lvl="1" marL="742950" rtl="0" algn="l">
              <a:spcBef>
                <a:spcPts val="0"/>
              </a:spcBef>
              <a:spcAft>
                <a:spcPts val="0"/>
              </a:spcAft>
              <a:buSzPts val="1900"/>
              <a:buChar char="–"/>
            </a:pPr>
            <a:r>
              <a:rPr lang="en-US" sz="1900"/>
              <a:t>Modern smoke detectors do not directly notify the emergency responders</a:t>
            </a:r>
            <a:endParaRPr sz="1900"/>
          </a:p>
          <a:p>
            <a:pPr indent="-292100" lvl="1" marL="742950" rtl="0" algn="l">
              <a:spcBef>
                <a:spcPts val="0"/>
              </a:spcBef>
              <a:spcAft>
                <a:spcPts val="0"/>
              </a:spcAft>
              <a:buSzPts val="1900"/>
              <a:buChar char="–"/>
            </a:pPr>
            <a:r>
              <a:rPr lang="en-US" sz="1900"/>
              <a:t>Fire department has limited data of residents in buildings</a:t>
            </a:r>
            <a:endParaRPr sz="1900"/>
          </a:p>
          <a:p>
            <a:pPr indent="-381000" lvl="0" marL="342900" rtl="0" algn="l">
              <a:spcBef>
                <a:spcPts val="0"/>
              </a:spcBef>
              <a:spcAft>
                <a:spcPts val="0"/>
              </a:spcAft>
              <a:buSzPts val="2400"/>
              <a:buChar char="•"/>
            </a:pPr>
            <a:r>
              <a:rPr lang="en-US" sz="2400"/>
              <a:t>Our Pyro Sensor will:</a:t>
            </a:r>
            <a:endParaRPr sz="2400"/>
          </a:p>
          <a:p>
            <a:pPr indent="-292100" lvl="1" marL="742950" rtl="0" algn="l">
              <a:spcBef>
                <a:spcPts val="0"/>
              </a:spcBef>
              <a:spcAft>
                <a:spcPts val="0"/>
              </a:spcAft>
              <a:buSzPts val="1900"/>
              <a:buChar char="–"/>
            </a:pPr>
            <a:r>
              <a:rPr lang="en-US" sz="1900"/>
              <a:t>Notify any user and emergency responders instantly through a mobile app of </a:t>
            </a:r>
            <a:r>
              <a:rPr lang="en-US" sz="1900"/>
              <a:t>any incident</a:t>
            </a:r>
            <a:endParaRPr sz="1900"/>
          </a:p>
          <a:p>
            <a:pPr indent="-292100" lvl="1" marL="742950" rtl="0" algn="l">
              <a:spcBef>
                <a:spcPts val="0"/>
              </a:spcBef>
              <a:spcAft>
                <a:spcPts val="0"/>
              </a:spcAft>
              <a:buSzPts val="1900"/>
              <a:buChar char="–"/>
            </a:pPr>
            <a:r>
              <a:rPr lang="en-US" sz="1900"/>
              <a:t>Give fire department information </a:t>
            </a:r>
            <a:r>
              <a:rPr lang="en-US" sz="1900"/>
              <a:t>about</a:t>
            </a:r>
            <a:r>
              <a:rPr lang="en-US" sz="1900"/>
              <a:t> residents and pets</a:t>
            </a:r>
            <a:endParaRPr sz="1900"/>
          </a:p>
          <a:p>
            <a:pPr indent="0" lvl="0" marL="742950" rtl="0" algn="l">
              <a:spcBef>
                <a:spcPts val="0"/>
              </a:spcBef>
              <a:spcAft>
                <a:spcPts val="0"/>
              </a:spcAft>
              <a:buNone/>
            </a:pPr>
            <a:r>
              <a:t/>
            </a:r>
            <a:endParaRPr sz="2600"/>
          </a:p>
        </p:txBody>
      </p:sp>
      <p:sp>
        <p:nvSpPr>
          <p:cNvPr id="67" name="Google Shape;67;p2"/>
          <p:cNvSpPr txBox="1"/>
          <p:nvPr/>
        </p:nvSpPr>
        <p:spPr>
          <a:xfrm>
            <a:off x="6204155" y="3185652"/>
            <a:ext cx="2015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68" name="Google Shape;68;p2"/>
          <p:cNvPicPr preferRelativeResize="0"/>
          <p:nvPr/>
        </p:nvPicPr>
        <p:blipFill>
          <a:blip r:embed="rId3">
            <a:alphaModFix/>
          </a:blip>
          <a:stretch>
            <a:fillRect/>
          </a:stretch>
        </p:blipFill>
        <p:spPr>
          <a:xfrm>
            <a:off x="4875550" y="3050475"/>
            <a:ext cx="4268449" cy="2082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556"/>
              <a:buFont typeface="Arial"/>
              <a:buNone/>
            </a:pPr>
            <a:r>
              <a:rPr lang="en-US"/>
              <a:t>Project/Subsystem Overview </a:t>
            </a:r>
            <a:endParaRPr/>
          </a:p>
        </p:txBody>
      </p:sp>
      <p:sp>
        <p:nvSpPr>
          <p:cNvPr id="74" name="Google Shape;74;p3"/>
          <p:cNvSpPr txBox="1"/>
          <p:nvPr/>
        </p:nvSpPr>
        <p:spPr>
          <a:xfrm>
            <a:off x="2866103" y="2609720"/>
            <a:ext cx="3411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75" name="Google Shape;75;p3"/>
          <p:cNvPicPr preferRelativeResize="0"/>
          <p:nvPr/>
        </p:nvPicPr>
        <p:blipFill rotWithShape="1">
          <a:blip r:embed="rId3">
            <a:alphaModFix/>
          </a:blip>
          <a:srcRect b="0" l="0" r="0" t="0"/>
          <a:stretch/>
        </p:blipFill>
        <p:spPr>
          <a:xfrm>
            <a:off x="3070525" y="1942950"/>
            <a:ext cx="6073476" cy="3890799"/>
          </a:xfrm>
          <a:prstGeom prst="rect">
            <a:avLst/>
          </a:prstGeom>
          <a:noFill/>
          <a:ln>
            <a:noFill/>
          </a:ln>
        </p:spPr>
      </p:pic>
      <p:sp>
        <p:nvSpPr>
          <p:cNvPr id="76" name="Google Shape;76;p3"/>
          <p:cNvSpPr txBox="1"/>
          <p:nvPr/>
        </p:nvSpPr>
        <p:spPr>
          <a:xfrm>
            <a:off x="167000" y="2226625"/>
            <a:ext cx="3117300" cy="3890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US" sz="1800">
                <a:solidFill>
                  <a:schemeClr val="dk1"/>
                </a:solidFill>
              </a:rPr>
              <a:t>Hardware</a:t>
            </a:r>
            <a:endParaRPr sz="1800">
              <a:solidFill>
                <a:schemeClr val="dk1"/>
              </a:solidFill>
            </a:endParaRPr>
          </a:p>
          <a:p>
            <a:pPr indent="-342900" lvl="1" marL="914400" rtl="0" algn="l">
              <a:spcBef>
                <a:spcPts val="0"/>
              </a:spcBef>
              <a:spcAft>
                <a:spcPts val="0"/>
              </a:spcAft>
              <a:buClr>
                <a:schemeClr val="dk1"/>
              </a:buClr>
              <a:buSzPts val="1800"/>
              <a:buChar char="‒"/>
            </a:pPr>
            <a:r>
              <a:rPr lang="en-US" sz="1800">
                <a:solidFill>
                  <a:schemeClr val="dk1"/>
                </a:solidFill>
              </a:rPr>
              <a:t>Collects sensor data and sends it to microcontroller</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MC Software</a:t>
            </a:r>
            <a:endParaRPr sz="1800">
              <a:solidFill>
                <a:schemeClr val="dk1"/>
              </a:solidFill>
            </a:endParaRPr>
          </a:p>
          <a:p>
            <a:pPr indent="-342900" lvl="1" marL="914400" rtl="0" algn="l">
              <a:spcBef>
                <a:spcPts val="0"/>
              </a:spcBef>
              <a:spcAft>
                <a:spcPts val="0"/>
              </a:spcAft>
              <a:buClr>
                <a:schemeClr val="dk1"/>
              </a:buClr>
              <a:buSzPts val="1800"/>
              <a:buChar char="‒"/>
            </a:pPr>
            <a:r>
              <a:rPr lang="en-US" sz="1800">
                <a:solidFill>
                  <a:schemeClr val="dk1"/>
                </a:solidFill>
              </a:rPr>
              <a:t>Gets sensor data, calculates it and sends it to mobile application</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Mobile Application</a:t>
            </a:r>
            <a:endParaRPr sz="1800">
              <a:solidFill>
                <a:schemeClr val="dk1"/>
              </a:solidFill>
            </a:endParaRPr>
          </a:p>
          <a:p>
            <a:pPr indent="-342900" lvl="1" marL="914400" rtl="0" algn="l">
              <a:spcBef>
                <a:spcPts val="0"/>
              </a:spcBef>
              <a:spcAft>
                <a:spcPts val="0"/>
              </a:spcAft>
              <a:buClr>
                <a:schemeClr val="dk1"/>
              </a:buClr>
              <a:buSzPts val="1800"/>
              <a:buChar char="‒"/>
            </a:pPr>
            <a:r>
              <a:rPr lang="en-US" sz="1800">
                <a:solidFill>
                  <a:schemeClr val="dk1"/>
                </a:solidFill>
              </a:rPr>
              <a:t>Displays sensor information and will </a:t>
            </a:r>
            <a:r>
              <a:rPr lang="en-US" sz="1800">
                <a:solidFill>
                  <a:schemeClr val="dk1"/>
                </a:solidFill>
              </a:rPr>
              <a:t>alert</a:t>
            </a:r>
            <a:r>
              <a:rPr lang="en-US" sz="1800">
                <a:solidFill>
                  <a:schemeClr val="dk1"/>
                </a:solidFill>
              </a:rPr>
              <a:t> users and Fire Department in case of fire alert.</a:t>
            </a:r>
            <a:endParaRPr sz="1800">
              <a:solidFill>
                <a:schemeClr val="dk1"/>
              </a:solidFill>
            </a:endParaRPr>
          </a:p>
          <a:p>
            <a:pPr indent="0" lvl="0" marL="0" rtl="0" algn="l">
              <a:spcBef>
                <a:spcPts val="0"/>
              </a:spcBef>
              <a:spcAft>
                <a:spcPts val="0"/>
              </a:spcAft>
              <a:buClr>
                <a:schemeClr val="dk1"/>
              </a:buClr>
              <a:buFont typeface="Arial"/>
              <a:buNone/>
            </a:pPr>
            <a:r>
              <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556"/>
              <a:buFont typeface="Arial"/>
              <a:buNone/>
            </a:pPr>
            <a:r>
              <a:rPr lang="en-US"/>
              <a:t>Major Project Changes for 404 </a:t>
            </a:r>
            <a:endParaRPr/>
          </a:p>
        </p:txBody>
      </p:sp>
      <p:sp>
        <p:nvSpPr>
          <p:cNvPr id="82" name="Google Shape;82;p4"/>
          <p:cNvSpPr txBox="1"/>
          <p:nvPr/>
        </p:nvSpPr>
        <p:spPr>
          <a:xfrm>
            <a:off x="846125" y="2320975"/>
            <a:ext cx="7014000" cy="23088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chemeClr val="dk1"/>
              </a:buClr>
              <a:buSzPts val="1800"/>
              <a:buFont typeface="Arial"/>
              <a:buChar char="●"/>
            </a:pPr>
            <a:r>
              <a:rPr lang="en-US" sz="1800">
                <a:solidFill>
                  <a:schemeClr val="dk1"/>
                </a:solidFill>
              </a:rPr>
              <a:t>Hardware</a:t>
            </a:r>
            <a:endParaRPr sz="1800">
              <a:solidFill>
                <a:schemeClr val="dk1"/>
              </a:solidFill>
            </a:endParaRPr>
          </a:p>
          <a:p>
            <a:pPr indent="-342900" lvl="1" marL="914400" marR="0" rtl="0" algn="l">
              <a:spcBef>
                <a:spcPts val="0"/>
              </a:spcBef>
              <a:spcAft>
                <a:spcPts val="0"/>
              </a:spcAft>
              <a:buClr>
                <a:schemeClr val="dk1"/>
              </a:buClr>
              <a:buSzPts val="1800"/>
              <a:buChar char="‒"/>
            </a:pPr>
            <a:r>
              <a:rPr lang="en-US" sz="1800">
                <a:solidFill>
                  <a:schemeClr val="dk1"/>
                </a:solidFill>
              </a:rPr>
              <a:t>N/A</a:t>
            </a:r>
            <a:endParaRPr sz="1800">
              <a:solidFill>
                <a:schemeClr val="dk1"/>
              </a:solidFill>
            </a:endParaRPr>
          </a:p>
          <a:p>
            <a:pPr indent="-342900" lvl="0" marL="457200" marR="0" rtl="0" algn="l">
              <a:spcBef>
                <a:spcPts val="0"/>
              </a:spcBef>
              <a:spcAft>
                <a:spcPts val="0"/>
              </a:spcAft>
              <a:buClr>
                <a:schemeClr val="dk1"/>
              </a:buClr>
              <a:buSzPts val="1800"/>
              <a:buChar char="●"/>
            </a:pPr>
            <a:r>
              <a:rPr lang="en-US" sz="1800">
                <a:solidFill>
                  <a:schemeClr val="dk1"/>
                </a:solidFill>
              </a:rPr>
              <a:t>MC Software</a:t>
            </a:r>
            <a:endParaRPr sz="1800">
              <a:solidFill>
                <a:schemeClr val="dk1"/>
              </a:solidFill>
            </a:endParaRPr>
          </a:p>
          <a:p>
            <a:pPr indent="-342900" lvl="1" marL="914400" marR="0" rtl="0" algn="l">
              <a:spcBef>
                <a:spcPts val="0"/>
              </a:spcBef>
              <a:spcAft>
                <a:spcPts val="0"/>
              </a:spcAft>
              <a:buClr>
                <a:schemeClr val="dk1"/>
              </a:buClr>
              <a:buSzPts val="1800"/>
              <a:buChar char="‒"/>
            </a:pPr>
            <a:r>
              <a:rPr lang="en-US" sz="1800">
                <a:solidFill>
                  <a:schemeClr val="dk1"/>
                </a:solidFill>
              </a:rPr>
              <a:t>N/A</a:t>
            </a:r>
            <a:endParaRPr sz="1800">
              <a:solidFill>
                <a:schemeClr val="dk1"/>
              </a:solidFill>
            </a:endParaRPr>
          </a:p>
          <a:p>
            <a:pPr indent="-342900" lvl="0" marL="457200" marR="0" rtl="0" algn="l">
              <a:spcBef>
                <a:spcPts val="0"/>
              </a:spcBef>
              <a:spcAft>
                <a:spcPts val="0"/>
              </a:spcAft>
              <a:buClr>
                <a:schemeClr val="dk1"/>
              </a:buClr>
              <a:buSzPts val="1800"/>
              <a:buChar char="●"/>
            </a:pPr>
            <a:r>
              <a:rPr lang="en-US" sz="1800">
                <a:solidFill>
                  <a:schemeClr val="dk1"/>
                </a:solidFill>
              </a:rPr>
              <a:t>Mobile Application</a:t>
            </a:r>
            <a:endParaRPr sz="1800">
              <a:solidFill>
                <a:schemeClr val="dk1"/>
              </a:solidFill>
            </a:endParaRPr>
          </a:p>
          <a:p>
            <a:pPr indent="-342900" lvl="1" marL="914400" marR="0" rtl="0" algn="l">
              <a:spcBef>
                <a:spcPts val="0"/>
              </a:spcBef>
              <a:spcAft>
                <a:spcPts val="0"/>
              </a:spcAft>
              <a:buClr>
                <a:schemeClr val="dk1"/>
              </a:buClr>
              <a:buSzPts val="1800"/>
              <a:buChar char="‒"/>
            </a:pPr>
            <a:r>
              <a:rPr lang="en-US" sz="1800">
                <a:solidFill>
                  <a:schemeClr val="dk1"/>
                </a:solidFill>
              </a:rPr>
              <a:t>Alerting 911 central dispatcher instead of directly fire department</a:t>
            </a:r>
            <a:endParaRPr sz="1800">
              <a:solidFill>
                <a:schemeClr val="dk1"/>
              </a:solidFil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type="title"/>
          </p:nvPr>
        </p:nvSpPr>
        <p:spPr>
          <a:xfrm>
            <a:off x="457200" y="964702"/>
            <a:ext cx="8229600" cy="803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lang="en-US"/>
              <a:t>Project Timeline </a:t>
            </a:r>
            <a:endParaRPr/>
          </a:p>
        </p:txBody>
      </p:sp>
      <p:graphicFrame>
        <p:nvGraphicFramePr>
          <p:cNvPr id="88" name="Google Shape;88;p5"/>
          <p:cNvGraphicFramePr/>
          <p:nvPr/>
        </p:nvGraphicFramePr>
        <p:xfrm>
          <a:off x="1428750" y="1768450"/>
          <a:ext cx="3000000" cy="3000000"/>
        </p:xfrm>
        <a:graphic>
          <a:graphicData uri="http://schemas.openxmlformats.org/drawingml/2006/table">
            <a:tbl>
              <a:tblPr>
                <a:noFill/>
                <a:tableStyleId>{CB4434EB-0600-44F3-844D-F21A3910962E}</a:tableStyleId>
              </a:tblPr>
              <a:tblGrid>
                <a:gridCol w="3429000"/>
                <a:gridCol w="952500"/>
                <a:gridCol w="952500"/>
                <a:gridCol w="952500"/>
              </a:tblGrid>
              <a:tr h="209550">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88:0:0"/>
                      </a:ext>
                    </a:extLst>
                  </a:tcPr>
                </a:tc>
                <a:tc>
                  <a:txBody>
                    <a:bodyPr/>
                    <a:lstStyle/>
                    <a:p>
                      <a:pPr indent="0" lvl="0" marL="0" rtl="0" algn="ctr">
                        <a:lnSpc>
                          <a:spcPct val="115000"/>
                        </a:lnSpc>
                        <a:spcBef>
                          <a:spcPts val="0"/>
                        </a:spcBef>
                        <a:spcAft>
                          <a:spcPts val="0"/>
                        </a:spcAft>
                        <a:buNone/>
                      </a:pPr>
                      <a:r>
                        <a:rPr b="1" lang="en-US" sz="1100"/>
                        <a:t>ECEN 403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88:0:1"/>
                      </a:ext>
                    </a:extLst>
                  </a:tcPr>
                </a:tc>
                <a:tc>
                  <a:txBody>
                    <a:bodyPr/>
                    <a:lstStyle/>
                    <a:p>
                      <a:pPr indent="0" lvl="0" marL="0" rtl="0" algn="ctr">
                        <a:lnSpc>
                          <a:spcPct val="115000"/>
                        </a:lnSpc>
                        <a:spcBef>
                          <a:spcPts val="0"/>
                        </a:spcBef>
                        <a:spcAft>
                          <a:spcPts val="0"/>
                        </a:spcAft>
                        <a:buNone/>
                      </a:pPr>
                      <a:r>
                        <a:rPr b="1" lang="en-US" sz="1100"/>
                        <a:t>02/03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88:0:2"/>
                      </a:ext>
                    </a:extLst>
                  </a:tcPr>
                </a:tc>
                <a:tc>
                  <a:txBody>
                    <a:bodyPr/>
                    <a:lstStyle/>
                    <a:p>
                      <a:pPr indent="0" lvl="0" marL="0" rtl="0" algn="l">
                        <a:lnSpc>
                          <a:spcPct val="115000"/>
                        </a:lnSpc>
                        <a:spcBef>
                          <a:spcPts val="0"/>
                        </a:spcBef>
                        <a:spcAft>
                          <a:spcPts val="0"/>
                        </a:spcAft>
                        <a:buNone/>
                      </a:pPr>
                      <a:r>
                        <a:rPr b="1" lang="en-US" sz="1100"/>
                        <a:t>Date</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88:0:3"/>
                      </a:ext>
                    </a:extLst>
                  </a:tcPr>
                </a:tc>
              </a:tr>
              <a:tr h="209550">
                <a:tc>
                  <a:txBody>
                    <a:bodyPr/>
                    <a:lstStyle/>
                    <a:p>
                      <a:pPr indent="0" lvl="0" marL="0" rtl="0" algn="l">
                        <a:lnSpc>
                          <a:spcPct val="115000"/>
                        </a:lnSpc>
                        <a:spcBef>
                          <a:spcPts val="0"/>
                        </a:spcBef>
                        <a:spcAft>
                          <a:spcPts val="0"/>
                        </a:spcAft>
                        <a:buNone/>
                      </a:pPr>
                      <a:r>
                        <a:rPr lang="en-US"/>
                        <a:t>App works in customers side, can create account</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E06666"/>
                    </a:solidFill>
                    <a:extLst>
                      <a:ext uri="http://customooxmlschemas.google.com/">
                        <go:slidesCustomData xmlns:go="http://customooxmlschemas.google.com/" cellId="88:1: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93C47D"/>
                    </a:solidFill>
                    <a:extLst>
                      <a:ext uri="http://customooxmlschemas.google.com/">
                        <go:slidesCustomData xmlns:go="http://customooxmlschemas.google.com/" cellId="88:1: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1:2"/>
                      </a:ext>
                    </a:extLst>
                  </a:tcPr>
                </a:tc>
                <a:tc>
                  <a:txBody>
                    <a:bodyPr/>
                    <a:lstStyle/>
                    <a:p>
                      <a:pPr indent="0" lvl="0" marL="0" rtl="0" algn="ctr">
                        <a:lnSpc>
                          <a:spcPct val="115000"/>
                        </a:lnSpc>
                        <a:spcBef>
                          <a:spcPts val="0"/>
                        </a:spcBef>
                        <a:spcAft>
                          <a:spcPts val="0"/>
                        </a:spcAft>
                        <a:buNone/>
                      </a:pPr>
                      <a:r>
                        <a:rPr b="1" lang="en-US" sz="1100"/>
                        <a:t>12/03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1:3"/>
                      </a:ext>
                    </a:extLst>
                  </a:tcPr>
                </a:tc>
              </a:tr>
              <a:tr h="209550">
                <a:tc>
                  <a:txBody>
                    <a:bodyPr/>
                    <a:lstStyle/>
                    <a:p>
                      <a:pPr indent="0" lvl="0" marL="0" rtl="0" algn="l">
                        <a:lnSpc>
                          <a:spcPct val="115000"/>
                        </a:lnSpc>
                        <a:spcBef>
                          <a:spcPts val="0"/>
                        </a:spcBef>
                        <a:spcAft>
                          <a:spcPts val="0"/>
                        </a:spcAft>
                        <a:buNone/>
                      </a:pPr>
                      <a:r>
                        <a:rPr lang="en-US"/>
                        <a:t>workspace, display sensor info, read/write to database</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6666"/>
                    </a:solidFill>
                    <a:extLst>
                      <a:ext uri="http://customooxmlschemas.google.com/">
                        <go:slidesCustomData xmlns:go="http://customooxmlschemas.google.com/" cellId="88:2: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93C47D"/>
                    </a:solidFill>
                    <a:extLst>
                      <a:ext uri="http://customooxmlschemas.google.com/">
                        <go:slidesCustomData xmlns:go="http://customooxmlschemas.google.com/" cellId="88:2: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2:2"/>
                      </a:ext>
                    </a:extLst>
                  </a:tcPr>
                </a:tc>
                <a:tc>
                  <a:txBody>
                    <a:bodyPr/>
                    <a:lstStyle/>
                    <a:p>
                      <a:pPr indent="0" lvl="0" marL="0" rtl="0" algn="ctr">
                        <a:lnSpc>
                          <a:spcPct val="115000"/>
                        </a:lnSpc>
                        <a:spcBef>
                          <a:spcPts val="0"/>
                        </a:spcBef>
                        <a:spcAft>
                          <a:spcPts val="0"/>
                        </a:spcAft>
                        <a:buNone/>
                      </a:pPr>
                      <a:r>
                        <a:rPr b="1" lang="en-US" sz="1100"/>
                        <a:t>12/03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2:3"/>
                      </a:ext>
                    </a:extLst>
                  </a:tcPr>
                </a:tc>
              </a:tr>
              <a:tr h="209550">
                <a:tc>
                  <a:txBody>
                    <a:bodyPr/>
                    <a:lstStyle/>
                    <a:p>
                      <a:pPr indent="0" lvl="0" marL="0" rtl="0" algn="l">
                        <a:lnSpc>
                          <a:spcPct val="115000"/>
                        </a:lnSpc>
                        <a:spcBef>
                          <a:spcPts val="0"/>
                        </a:spcBef>
                        <a:spcAft>
                          <a:spcPts val="0"/>
                        </a:spcAft>
                        <a:buNone/>
                      </a:pPr>
                      <a:r>
                        <a:rPr lang="en-US"/>
                        <a:t>Power is successfully delivered to full PCB</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extLst>
                      <a:ext uri="http://customooxmlschemas.google.com/">
                        <go:slidesCustomData xmlns:go="http://customooxmlschemas.google.com/" cellId="88:3: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93C47D"/>
                    </a:solidFill>
                    <a:extLst>
                      <a:ext uri="http://customooxmlschemas.google.com/">
                        <go:slidesCustomData xmlns:go="http://customooxmlschemas.google.com/" cellId="88:3: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extLst>
                      <a:ext uri="http://customooxmlschemas.google.com/">
                        <go:slidesCustomData xmlns:go="http://customooxmlschemas.google.com/" cellId="88:3:2"/>
                      </a:ext>
                    </a:extLst>
                  </a:tcPr>
                </a:tc>
                <a:tc>
                  <a:txBody>
                    <a:bodyPr/>
                    <a:lstStyle/>
                    <a:p>
                      <a:pPr indent="0" lvl="0" marL="0" rtl="0" algn="ctr">
                        <a:lnSpc>
                          <a:spcPct val="115000"/>
                        </a:lnSpc>
                        <a:spcBef>
                          <a:spcPts val="0"/>
                        </a:spcBef>
                        <a:spcAft>
                          <a:spcPts val="0"/>
                        </a:spcAft>
                        <a:buNone/>
                      </a:pPr>
                      <a:r>
                        <a:rPr b="1" lang="en-US" sz="1100"/>
                        <a:t>12/03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3:3"/>
                      </a:ext>
                    </a:extLst>
                  </a:tcPr>
                </a:tc>
              </a:tr>
              <a:tr h="209550">
                <a:tc>
                  <a:txBody>
                    <a:bodyPr/>
                    <a:lstStyle/>
                    <a:p>
                      <a:pPr indent="0" lvl="0" marL="0" rtl="0" algn="l">
                        <a:lnSpc>
                          <a:spcPct val="115000"/>
                        </a:lnSpc>
                        <a:spcBef>
                          <a:spcPts val="0"/>
                        </a:spcBef>
                        <a:spcAft>
                          <a:spcPts val="0"/>
                        </a:spcAft>
                        <a:buNone/>
                      </a:pPr>
                      <a:r>
                        <a:rPr lang="en-US"/>
                        <a:t>Some sensors work and deliver signals</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extLst>
                      <a:ext uri="http://customooxmlschemas.google.com/">
                        <go:slidesCustomData xmlns:go="http://customooxmlschemas.google.com/" cellId="88:4: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93C47D"/>
                    </a:solidFill>
                    <a:extLst>
                      <a:ext uri="http://customooxmlschemas.google.com/">
                        <go:slidesCustomData xmlns:go="http://customooxmlschemas.google.com/" cellId="88:4: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extLst>
                      <a:ext uri="http://customooxmlschemas.google.com/">
                        <go:slidesCustomData xmlns:go="http://customooxmlschemas.google.com/" cellId="88:4:2"/>
                      </a:ext>
                    </a:extLst>
                  </a:tcPr>
                </a:tc>
                <a:tc>
                  <a:txBody>
                    <a:bodyPr/>
                    <a:lstStyle/>
                    <a:p>
                      <a:pPr indent="0" lvl="0" marL="0" rtl="0" algn="ctr">
                        <a:lnSpc>
                          <a:spcPct val="115000"/>
                        </a:lnSpc>
                        <a:spcBef>
                          <a:spcPts val="0"/>
                        </a:spcBef>
                        <a:spcAft>
                          <a:spcPts val="0"/>
                        </a:spcAft>
                        <a:buNone/>
                      </a:pPr>
                      <a:r>
                        <a:rPr b="1" lang="en-US" sz="1100"/>
                        <a:t>12/03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4:3"/>
                      </a:ext>
                    </a:extLst>
                  </a:tcPr>
                </a:tc>
              </a:tr>
              <a:tr h="209550">
                <a:tc>
                  <a:txBody>
                    <a:bodyPr/>
                    <a:lstStyle/>
                    <a:p>
                      <a:pPr indent="0" lvl="0" marL="0" rtl="0" algn="l">
                        <a:lnSpc>
                          <a:spcPct val="115000"/>
                        </a:lnSpc>
                        <a:spcBef>
                          <a:spcPts val="0"/>
                        </a:spcBef>
                        <a:spcAft>
                          <a:spcPts val="0"/>
                        </a:spcAft>
                        <a:buNone/>
                      </a:pPr>
                      <a:r>
                        <a:rPr lang="en-US"/>
                        <a:t>Microcontroller works </a:t>
                      </a:r>
                      <a:r>
                        <a:rPr lang="en-US"/>
                        <a:t>continuously, sending data to Firebase</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6BDC6"/>
                    </a:solidFill>
                    <a:extLst>
                      <a:ext uri="http://customooxmlschemas.google.com/">
                        <go:slidesCustomData xmlns:go="http://customooxmlschemas.google.com/" cellId="88:5: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93C47D"/>
                    </a:solidFill>
                    <a:extLst>
                      <a:ext uri="http://customooxmlschemas.google.com/">
                        <go:slidesCustomData xmlns:go="http://customooxmlschemas.google.com/" cellId="88:5: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extLst>
                      <a:ext uri="http://customooxmlschemas.google.com/">
                        <go:slidesCustomData xmlns:go="http://customooxmlschemas.google.com/" cellId="88:5:2"/>
                      </a:ext>
                    </a:extLst>
                  </a:tcPr>
                </a:tc>
                <a:tc>
                  <a:txBody>
                    <a:bodyPr/>
                    <a:lstStyle/>
                    <a:p>
                      <a:pPr indent="0" lvl="0" marL="0" rtl="0" algn="ctr">
                        <a:lnSpc>
                          <a:spcPct val="115000"/>
                        </a:lnSpc>
                        <a:spcBef>
                          <a:spcPts val="0"/>
                        </a:spcBef>
                        <a:spcAft>
                          <a:spcPts val="0"/>
                        </a:spcAft>
                        <a:buNone/>
                      </a:pPr>
                      <a:r>
                        <a:rPr b="1" lang="en-US" sz="1100"/>
                        <a:t>12/03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5:3"/>
                      </a:ext>
                    </a:extLst>
                  </a:tcPr>
                </a:tc>
              </a:tr>
              <a:tr h="209550">
                <a:tc>
                  <a:txBody>
                    <a:bodyPr/>
                    <a:lstStyle/>
                    <a:p>
                      <a:pPr indent="0" lvl="0" marL="0" rtl="0" algn="l">
                        <a:lnSpc>
                          <a:spcPct val="115000"/>
                        </a:lnSpc>
                        <a:spcBef>
                          <a:spcPts val="0"/>
                        </a:spcBef>
                        <a:spcAft>
                          <a:spcPts val="0"/>
                        </a:spcAft>
                        <a:buNone/>
                      </a:pPr>
                      <a:r>
                        <a:rPr lang="en-US"/>
                        <a:t>Fix/update notification System, picture upload</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6666"/>
                    </a:solidFill>
                    <a:extLst>
                      <a:ext uri="http://customooxmlschemas.google.com/">
                        <go:slidesCustomData xmlns:go="http://customooxmlschemas.google.com/" cellId="88:6: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6: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extLst>
                      <a:ext uri="http://customooxmlschemas.google.com/">
                        <go:slidesCustomData xmlns:go="http://customooxmlschemas.google.com/" cellId="88:6:2"/>
                      </a:ext>
                    </a:extLst>
                  </a:tcPr>
                </a:tc>
                <a:tc>
                  <a:txBody>
                    <a:bodyPr/>
                    <a:lstStyle/>
                    <a:p>
                      <a:pPr indent="0" lvl="0" marL="0" rtl="0" algn="ctr">
                        <a:lnSpc>
                          <a:spcPct val="115000"/>
                        </a:lnSpc>
                        <a:spcBef>
                          <a:spcPts val="0"/>
                        </a:spcBef>
                        <a:spcAft>
                          <a:spcPts val="0"/>
                        </a:spcAft>
                        <a:buNone/>
                      </a:pPr>
                      <a:r>
                        <a:rPr b="1" lang="en-US" sz="1100"/>
                        <a:t>02/03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6:3"/>
                      </a:ext>
                    </a:extLst>
                  </a:tcPr>
                </a:tc>
              </a:tr>
              <a:tr h="209550">
                <a:tc>
                  <a:txBody>
                    <a:bodyPr/>
                    <a:lstStyle/>
                    <a:p>
                      <a:pPr indent="0" lvl="0" marL="0" rtl="0" algn="l">
                        <a:lnSpc>
                          <a:spcPct val="115000"/>
                        </a:lnSpc>
                        <a:spcBef>
                          <a:spcPts val="0"/>
                        </a:spcBef>
                        <a:spcAft>
                          <a:spcPts val="0"/>
                        </a:spcAft>
                        <a:buNone/>
                      </a:pPr>
                      <a:r>
                        <a:rPr lang="en-US"/>
                        <a:t>Switch communication to centralized dispatcher</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6666"/>
                    </a:solidFill>
                    <a:extLst>
                      <a:ext uri="http://customooxmlschemas.google.com/">
                        <go:slidesCustomData xmlns:go="http://customooxmlschemas.google.com/" cellId="88:7: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7: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extLst>
                      <a:ext uri="http://customooxmlschemas.google.com/">
                        <go:slidesCustomData xmlns:go="http://customooxmlschemas.google.com/" cellId="88:7:2"/>
                      </a:ext>
                    </a:extLst>
                  </a:tcPr>
                </a:tc>
                <a:tc>
                  <a:txBody>
                    <a:bodyPr/>
                    <a:lstStyle/>
                    <a:p>
                      <a:pPr indent="0" lvl="0" marL="0" rtl="0" algn="ctr">
                        <a:lnSpc>
                          <a:spcPct val="115000"/>
                        </a:lnSpc>
                        <a:spcBef>
                          <a:spcPts val="0"/>
                        </a:spcBef>
                        <a:spcAft>
                          <a:spcPts val="0"/>
                        </a:spcAft>
                        <a:buNone/>
                      </a:pPr>
                      <a:r>
                        <a:rPr b="1" lang="en-US" sz="1100"/>
                        <a:t>02/03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7:3"/>
                      </a:ext>
                    </a:extLst>
                  </a:tcPr>
                </a:tc>
              </a:tr>
              <a:tr h="209550">
                <a:tc>
                  <a:txBody>
                    <a:bodyPr/>
                    <a:lstStyle/>
                    <a:p>
                      <a:pPr indent="0" lvl="0" marL="0" rtl="0" algn="l">
                        <a:lnSpc>
                          <a:spcPct val="115000"/>
                        </a:lnSpc>
                        <a:spcBef>
                          <a:spcPts val="0"/>
                        </a:spcBef>
                        <a:spcAft>
                          <a:spcPts val="0"/>
                        </a:spcAft>
                        <a:buNone/>
                      </a:pPr>
                      <a:r>
                        <a:rPr lang="en-US"/>
                        <a:t>Fix PCB schematic mistakes</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extLst>
                      <a:ext uri="http://customooxmlschemas.google.com/">
                        <go:slidesCustomData xmlns:go="http://customooxmlschemas.google.com/" cellId="88:8: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8: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extLst>
                      <a:ext uri="http://customooxmlschemas.google.com/">
                        <go:slidesCustomData xmlns:go="http://customooxmlschemas.google.com/" cellId="88:8:2"/>
                      </a:ext>
                    </a:extLst>
                  </a:tcPr>
                </a:tc>
                <a:tc>
                  <a:txBody>
                    <a:bodyPr/>
                    <a:lstStyle/>
                    <a:p>
                      <a:pPr indent="0" lvl="0" marL="0" rtl="0" algn="ctr">
                        <a:lnSpc>
                          <a:spcPct val="115000"/>
                        </a:lnSpc>
                        <a:spcBef>
                          <a:spcPts val="0"/>
                        </a:spcBef>
                        <a:spcAft>
                          <a:spcPts val="0"/>
                        </a:spcAft>
                        <a:buNone/>
                      </a:pPr>
                      <a:r>
                        <a:rPr b="1" lang="en-US" sz="1100"/>
                        <a:t>02/03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8:3"/>
                      </a:ext>
                    </a:extLst>
                  </a:tcPr>
                </a:tc>
              </a:tr>
              <a:tr h="209550">
                <a:tc>
                  <a:txBody>
                    <a:bodyPr/>
                    <a:lstStyle/>
                    <a:p>
                      <a:pPr indent="0" lvl="0" marL="0" rtl="0" algn="l">
                        <a:lnSpc>
                          <a:spcPct val="115000"/>
                        </a:lnSpc>
                        <a:spcBef>
                          <a:spcPts val="0"/>
                        </a:spcBef>
                        <a:spcAft>
                          <a:spcPts val="0"/>
                        </a:spcAft>
                        <a:buNone/>
                      </a:pPr>
                      <a:r>
                        <a:rPr lang="en-US"/>
                        <a:t>Reorder and resolder PCB</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extLst>
                      <a:ext uri="http://customooxmlschemas.google.com/">
                        <go:slidesCustomData xmlns:go="http://customooxmlschemas.google.com/" cellId="88:9: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9: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extLst>
                      <a:ext uri="http://customooxmlschemas.google.com/">
                        <go:slidesCustomData xmlns:go="http://customooxmlschemas.google.com/" cellId="88:9:2"/>
                      </a:ext>
                    </a:extLst>
                  </a:tcPr>
                </a:tc>
                <a:tc>
                  <a:txBody>
                    <a:bodyPr/>
                    <a:lstStyle/>
                    <a:p>
                      <a:pPr indent="0" lvl="0" marL="0" rtl="0" algn="ctr">
                        <a:lnSpc>
                          <a:spcPct val="115000"/>
                        </a:lnSpc>
                        <a:spcBef>
                          <a:spcPts val="0"/>
                        </a:spcBef>
                        <a:spcAft>
                          <a:spcPts val="0"/>
                        </a:spcAft>
                        <a:buNone/>
                      </a:pPr>
                      <a:r>
                        <a:rPr b="1" lang="en-US" sz="1100"/>
                        <a:t>02/03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9:3"/>
                      </a:ext>
                    </a:extLst>
                  </a:tcPr>
                </a:tc>
              </a:tr>
              <a:tr h="209550">
                <a:tc>
                  <a:txBody>
                    <a:bodyPr/>
                    <a:lstStyle/>
                    <a:p>
                      <a:pPr indent="0" lvl="0" marL="0" rtl="0" algn="l">
                        <a:lnSpc>
                          <a:spcPct val="115000"/>
                        </a:lnSpc>
                        <a:spcBef>
                          <a:spcPts val="0"/>
                        </a:spcBef>
                        <a:spcAft>
                          <a:spcPts val="0"/>
                        </a:spcAft>
                        <a:buNone/>
                      </a:pPr>
                      <a:r>
                        <a:rPr lang="en-US"/>
                        <a:t>Ensure all sensor </a:t>
                      </a:r>
                      <a:r>
                        <a:rPr lang="en-US"/>
                        <a:t>modules are functional</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extLst>
                      <a:ext uri="http://customooxmlschemas.google.com/">
                        <go:slidesCustomData xmlns:go="http://customooxmlschemas.google.com/" cellId="88:10: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10: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extLst>
                      <a:ext uri="http://customooxmlschemas.google.com/">
                        <go:slidesCustomData xmlns:go="http://customooxmlschemas.google.com/" cellId="88:10:2"/>
                      </a:ext>
                    </a:extLst>
                  </a:tcPr>
                </a:tc>
                <a:tc>
                  <a:txBody>
                    <a:bodyPr/>
                    <a:lstStyle/>
                    <a:p>
                      <a:pPr indent="0" lvl="0" marL="0" rtl="0" algn="ctr">
                        <a:lnSpc>
                          <a:spcPct val="115000"/>
                        </a:lnSpc>
                        <a:spcBef>
                          <a:spcPts val="0"/>
                        </a:spcBef>
                        <a:spcAft>
                          <a:spcPts val="0"/>
                        </a:spcAft>
                        <a:buNone/>
                      </a:pPr>
                      <a:r>
                        <a:rPr b="1" lang="en-US" sz="1100"/>
                        <a:t>02/03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88:10:3"/>
                      </a:ext>
                    </a:extLst>
                  </a:tcPr>
                </a:tc>
              </a:tr>
              <a:tr h="209550">
                <a:tc>
                  <a:txBody>
                    <a:bodyPr/>
                    <a:lstStyle/>
                    <a:p>
                      <a:pPr indent="0" lvl="0" marL="0" rtl="0" algn="l">
                        <a:spcBef>
                          <a:spcPts val="0"/>
                        </a:spcBef>
                        <a:spcAft>
                          <a:spcPts val="0"/>
                        </a:spcAft>
                        <a:buNone/>
                      </a:pPr>
                      <a:r>
                        <a:rPr lang="en-US"/>
                        <a:t>MCUs establish connection per user using app, which displays sensor info and fire status</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46BDC6"/>
                    </a:solidFill>
                    <a:extLst>
                      <a:ext uri="http://customooxmlschemas.google.com/">
                        <go:slidesCustomData xmlns:go="http://customooxmlschemas.google.com/" cellId="88:11:0"/>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88:11:1"/>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extLst>
                      <a:ext uri="http://customooxmlschemas.google.com/">
                        <go:slidesCustomData xmlns:go="http://customooxmlschemas.google.com/" cellId="88:11:2"/>
                      </a:ext>
                    </a:extLst>
                  </a:tcPr>
                </a:tc>
                <a:tc>
                  <a:txBody>
                    <a:bodyPr/>
                    <a:lstStyle/>
                    <a:p>
                      <a:pPr indent="0" lvl="0" marL="0" rtl="0" algn="ctr">
                        <a:lnSpc>
                          <a:spcPct val="115000"/>
                        </a:lnSpc>
                        <a:spcBef>
                          <a:spcPts val="0"/>
                        </a:spcBef>
                        <a:spcAft>
                          <a:spcPts val="0"/>
                        </a:spcAft>
                        <a:buNone/>
                      </a:pPr>
                      <a:r>
                        <a:rPr b="1" lang="en-US" sz="1100"/>
                        <a:t>02/03</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88:11:3"/>
                      </a:ext>
                    </a:extLst>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990"/>
              <a:buFont typeface="Arial"/>
              <a:buNone/>
            </a:pPr>
            <a:r>
              <a:rPr lang="en-US"/>
              <a:t>Hardware Subsystem</a:t>
            </a:r>
            <a:endParaRPr/>
          </a:p>
          <a:p>
            <a:pPr indent="0" lvl="0" marL="0" rtl="0" algn="ctr">
              <a:lnSpc>
                <a:spcPct val="115000"/>
              </a:lnSpc>
              <a:spcBef>
                <a:spcPts val="0"/>
              </a:spcBef>
              <a:spcAft>
                <a:spcPts val="0"/>
              </a:spcAft>
              <a:buClr>
                <a:schemeClr val="dk1"/>
              </a:buClr>
              <a:buSzPts val="990"/>
              <a:buFont typeface="Arial"/>
              <a:buNone/>
            </a:pPr>
            <a:r>
              <a:rPr lang="en-US" sz="1720"/>
              <a:t>Martin Ford</a:t>
            </a:r>
            <a:endParaRPr sz="2980"/>
          </a:p>
        </p:txBody>
      </p:sp>
      <p:graphicFrame>
        <p:nvGraphicFramePr>
          <p:cNvPr id="94" name="Google Shape;94;p6"/>
          <p:cNvGraphicFramePr/>
          <p:nvPr/>
        </p:nvGraphicFramePr>
        <p:xfrm>
          <a:off x="685800" y="1952075"/>
          <a:ext cx="3000000" cy="3000000"/>
        </p:xfrm>
        <a:graphic>
          <a:graphicData uri="http://schemas.openxmlformats.org/drawingml/2006/table">
            <a:tbl>
              <a:tblPr>
                <a:noFill/>
                <a:tableStyleId>{CB4434EB-0600-44F3-844D-F21A3910962E}</a:tableStyleId>
              </a:tblPr>
              <a:tblGrid>
                <a:gridCol w="3886200"/>
                <a:gridCol w="3886200"/>
              </a:tblGrid>
              <a:tr h="764900">
                <a:tc>
                  <a:txBody>
                    <a:bodyPr/>
                    <a:lstStyle/>
                    <a:p>
                      <a:pPr indent="0" lvl="0" marL="0" marR="0" rtl="0" algn="l">
                        <a:spcBef>
                          <a:spcPts val="0"/>
                        </a:spcBef>
                        <a:spcAft>
                          <a:spcPts val="0"/>
                        </a:spcAft>
                        <a:buClr>
                          <a:schemeClr val="dk1"/>
                        </a:buClr>
                        <a:buSzPts val="1800"/>
                        <a:buFont typeface="Arial"/>
                        <a:buNone/>
                      </a:pPr>
                      <a:r>
                        <a:rPr lang="en-US" sz="1800" u="none" cap="none" strike="noStrike"/>
                        <a:t>Accomplishments since 403                          </a:t>
                      </a:r>
                      <a:r>
                        <a:rPr lang="en-US" sz="1800">
                          <a:solidFill>
                            <a:srgbClr val="FF0000"/>
                          </a:solidFill>
                        </a:rPr>
                        <a:t>0</a:t>
                      </a:r>
                      <a:r>
                        <a:rPr lang="en-US" sz="1800" u="none" cap="none" strike="noStrike">
                          <a:solidFill>
                            <a:srgbClr val="FF0000"/>
                          </a:solidFill>
                        </a:rPr>
                        <a:t> hrs of effort</a:t>
                      </a:r>
                      <a:endParaRPr sz="1800" u="none" cap="none" strike="noStrike">
                        <a:solidFill>
                          <a:srgbClr val="FF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spcBef>
                          <a:spcPts val="0"/>
                        </a:spcBef>
                        <a:spcAft>
                          <a:spcPts val="0"/>
                        </a:spcAft>
                        <a:buClr>
                          <a:schemeClr val="dk1"/>
                        </a:buClr>
                        <a:buSzPts val="1800"/>
                        <a:buFont typeface="Arial"/>
                        <a:buNone/>
                      </a:pPr>
                      <a:r>
                        <a:rPr lang="en-US" sz="1800" u="none" cap="none" strike="noStrike"/>
                        <a:t>Ongoing progress/problems and plans until the next presentation</a:t>
                      </a:r>
                      <a:endParaRPr sz="18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2072050">
                <a:tc>
                  <a:txBody>
                    <a:bodyPr/>
                    <a:lstStyle/>
                    <a:p>
                      <a:pPr indent="0" lvl="0" marL="0" marR="0" rtl="0" algn="l">
                        <a:spcBef>
                          <a:spcPts val="0"/>
                        </a:spcBef>
                        <a:spcAft>
                          <a:spcPts val="0"/>
                        </a:spcAft>
                        <a:buClr>
                          <a:schemeClr val="dk1"/>
                        </a:buClr>
                        <a:buSzPts val="1800"/>
                        <a:buFont typeface="Arial"/>
                        <a:buNone/>
                      </a:pPr>
                      <a:r>
                        <a:rPr lang="en-US" sz="1800"/>
                        <a:t>N/A</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457200" marR="0" rtl="0" algn="l">
                        <a:spcBef>
                          <a:spcPts val="0"/>
                        </a:spcBef>
                        <a:spcAft>
                          <a:spcPts val="0"/>
                        </a:spcAft>
                        <a:buSzPts val="1800"/>
                        <a:buChar char="●"/>
                      </a:pPr>
                      <a:r>
                        <a:rPr lang="en-US" sz="1800"/>
                        <a:t>Fix schematic errors</a:t>
                      </a:r>
                      <a:endParaRPr sz="1800"/>
                    </a:p>
                    <a:p>
                      <a:pPr indent="-342900" lvl="0" marL="457200" marR="0" rtl="0" algn="l">
                        <a:spcBef>
                          <a:spcPts val="0"/>
                        </a:spcBef>
                        <a:spcAft>
                          <a:spcPts val="0"/>
                        </a:spcAft>
                        <a:buSzPts val="1800"/>
                        <a:buChar char="●"/>
                      </a:pPr>
                      <a:r>
                        <a:rPr lang="en-US" sz="1800"/>
                        <a:t>Reorder and resolder PCB</a:t>
                      </a:r>
                      <a:endParaRPr sz="1800"/>
                    </a:p>
                    <a:p>
                      <a:pPr indent="-342900" lvl="0" marL="457200" marR="0" rtl="0" algn="l">
                        <a:spcBef>
                          <a:spcPts val="0"/>
                        </a:spcBef>
                        <a:spcAft>
                          <a:spcPts val="0"/>
                        </a:spcAft>
                        <a:buSzPts val="1800"/>
                        <a:buChar char="●"/>
                      </a:pPr>
                      <a:r>
                        <a:rPr lang="en-US" sz="1800"/>
                        <a:t>Get all sensor modules to deliver signals to the MC</a:t>
                      </a:r>
                      <a:endParaRPr sz="1800"/>
                    </a:p>
                    <a:p>
                      <a:pPr indent="0" lvl="0" marL="0" marR="0" rtl="0" algn="l">
                        <a:spcBef>
                          <a:spcPts val="0"/>
                        </a:spcBef>
                        <a:spcAft>
                          <a:spcPts val="0"/>
                        </a:spcAft>
                        <a:buNone/>
                      </a:pPr>
                      <a:r>
                        <a:t/>
                      </a:r>
                      <a:endParaRPr sz="1800"/>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txBox="1"/>
          <p:nvPr>
            <p:ph idx="1" type="body"/>
          </p:nvPr>
        </p:nvSpPr>
        <p:spPr>
          <a:xfrm>
            <a:off x="457200" y="2049275"/>
            <a:ext cx="4744500" cy="4077000"/>
          </a:xfrm>
          <a:prstGeom prst="rect">
            <a:avLst/>
          </a:prstGeom>
          <a:noFill/>
          <a:ln>
            <a:noFill/>
          </a:ln>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sz="1800"/>
              <a:t>What works:</a:t>
            </a:r>
            <a:endParaRPr sz="1800"/>
          </a:p>
          <a:p>
            <a:pPr indent="-342900" lvl="1" marL="914400" rtl="0" algn="l">
              <a:spcBef>
                <a:spcPts val="0"/>
              </a:spcBef>
              <a:spcAft>
                <a:spcPts val="0"/>
              </a:spcAft>
              <a:buSzPts val="1800"/>
              <a:buChar char="–"/>
            </a:pPr>
            <a:r>
              <a:rPr lang="en-US" sz="1800"/>
              <a:t>Power</a:t>
            </a:r>
            <a:r>
              <a:rPr lang="en-US" sz="1800"/>
              <a:t> distribution to full PCB</a:t>
            </a:r>
            <a:endParaRPr sz="1800"/>
          </a:p>
          <a:p>
            <a:pPr indent="-342900" lvl="1" marL="914400" rtl="0" algn="l">
              <a:spcBef>
                <a:spcPts val="0"/>
              </a:spcBef>
              <a:spcAft>
                <a:spcPts val="0"/>
              </a:spcAft>
              <a:buSzPts val="1800"/>
              <a:buChar char="–"/>
            </a:pPr>
            <a:r>
              <a:rPr lang="en-US" sz="1800"/>
              <a:t>Speaker makes sound from signal</a:t>
            </a:r>
            <a:endParaRPr sz="1800"/>
          </a:p>
          <a:p>
            <a:pPr indent="-342900" lvl="1" marL="914400" rtl="0" algn="l">
              <a:spcBef>
                <a:spcPts val="0"/>
              </a:spcBef>
              <a:spcAft>
                <a:spcPts val="0"/>
              </a:spcAft>
              <a:buSzPts val="1800"/>
              <a:buChar char="–"/>
            </a:pPr>
            <a:r>
              <a:rPr lang="en-US" sz="1800"/>
              <a:t>IR sensor module delivers signal to microcontroller</a:t>
            </a:r>
            <a:endParaRPr sz="1800"/>
          </a:p>
          <a:p>
            <a:pPr indent="-342900" lvl="0" marL="457200" rtl="0" algn="l">
              <a:spcBef>
                <a:spcPts val="0"/>
              </a:spcBef>
              <a:spcAft>
                <a:spcPts val="0"/>
              </a:spcAft>
              <a:buSzPts val="1800"/>
              <a:buChar char="•"/>
            </a:pPr>
            <a:r>
              <a:rPr lang="en-US" sz="1800"/>
              <a:t>What does not work:</a:t>
            </a:r>
            <a:endParaRPr sz="1800"/>
          </a:p>
          <a:p>
            <a:pPr indent="-342900" lvl="1" marL="914400" rtl="0" algn="l">
              <a:spcBef>
                <a:spcPts val="0"/>
              </a:spcBef>
              <a:spcAft>
                <a:spcPts val="0"/>
              </a:spcAft>
              <a:buSzPts val="1800"/>
              <a:buChar char="–"/>
            </a:pPr>
            <a:r>
              <a:rPr lang="en-US" sz="1800"/>
              <a:t>Speaker sound needs greater amplification</a:t>
            </a:r>
            <a:endParaRPr sz="1800"/>
          </a:p>
          <a:p>
            <a:pPr indent="-342900" lvl="1" marL="914400" rtl="0" algn="l">
              <a:spcBef>
                <a:spcPts val="0"/>
              </a:spcBef>
              <a:spcAft>
                <a:spcPts val="0"/>
              </a:spcAft>
              <a:buSzPts val="1800"/>
              <a:buChar char="–"/>
            </a:pPr>
            <a:r>
              <a:rPr lang="en-US" sz="1800"/>
              <a:t>UV, gas, and photoelectric sensor modules do not consistently deliver signals to microcontroller</a:t>
            </a:r>
            <a:endParaRPr sz="1800"/>
          </a:p>
        </p:txBody>
      </p:sp>
      <p:sp>
        <p:nvSpPr>
          <p:cNvPr id="100" name="Google Shape;100;p7"/>
          <p:cNvSpPr txBox="1"/>
          <p:nvPr>
            <p:ph type="title"/>
          </p:nvPr>
        </p:nvSpPr>
        <p:spPr>
          <a:xfrm>
            <a:off x="609600" y="1201577"/>
            <a:ext cx="8229600" cy="8037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990"/>
              <a:buFont typeface="Arial"/>
              <a:buNone/>
            </a:pPr>
            <a:r>
              <a:rPr lang="en-US"/>
              <a:t>Hardware </a:t>
            </a:r>
            <a:r>
              <a:rPr lang="en-US"/>
              <a:t>Subsystem</a:t>
            </a:r>
            <a:endParaRPr/>
          </a:p>
          <a:p>
            <a:pPr indent="0" lvl="0" marL="0" rtl="0" algn="ctr">
              <a:lnSpc>
                <a:spcPct val="115000"/>
              </a:lnSpc>
              <a:spcBef>
                <a:spcPts val="0"/>
              </a:spcBef>
              <a:spcAft>
                <a:spcPts val="0"/>
              </a:spcAft>
              <a:buClr>
                <a:schemeClr val="dk1"/>
              </a:buClr>
              <a:buSzPts val="990"/>
              <a:buFont typeface="Arial"/>
              <a:buNone/>
            </a:pPr>
            <a:r>
              <a:rPr lang="en-US" sz="1720"/>
              <a:t>Martin Ford</a:t>
            </a:r>
            <a:endParaRPr sz="2980"/>
          </a:p>
        </p:txBody>
      </p:sp>
      <p:pic>
        <p:nvPicPr>
          <p:cNvPr id="101" name="Google Shape;101;p7"/>
          <p:cNvPicPr preferRelativeResize="0"/>
          <p:nvPr/>
        </p:nvPicPr>
        <p:blipFill>
          <a:blip r:embed="rId3">
            <a:alphaModFix/>
          </a:blip>
          <a:stretch>
            <a:fillRect/>
          </a:stretch>
        </p:blipFill>
        <p:spPr>
          <a:xfrm>
            <a:off x="5201604" y="2087800"/>
            <a:ext cx="3485201" cy="39999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25a69ecd98_0_3"/>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990"/>
              <a:buFont typeface="Arial"/>
              <a:buNone/>
            </a:pPr>
            <a:r>
              <a:rPr lang="en-US"/>
              <a:t>Microcontroller Software S</a:t>
            </a:r>
            <a:r>
              <a:rPr lang="en-US"/>
              <a:t>ubsystem </a:t>
            </a:r>
            <a:endParaRPr/>
          </a:p>
          <a:p>
            <a:pPr indent="0" lvl="0" marL="0" rtl="0" algn="ctr">
              <a:lnSpc>
                <a:spcPct val="115000"/>
              </a:lnSpc>
              <a:spcBef>
                <a:spcPts val="0"/>
              </a:spcBef>
              <a:spcAft>
                <a:spcPts val="0"/>
              </a:spcAft>
              <a:buClr>
                <a:schemeClr val="dk1"/>
              </a:buClr>
              <a:buSzPts val="990"/>
              <a:buFont typeface="Arial"/>
              <a:buNone/>
            </a:pPr>
            <a:r>
              <a:rPr lang="en-US" sz="1720"/>
              <a:t>Oscar Hernandez</a:t>
            </a:r>
            <a:endParaRPr sz="2980"/>
          </a:p>
        </p:txBody>
      </p:sp>
      <p:graphicFrame>
        <p:nvGraphicFramePr>
          <p:cNvPr id="107" name="Google Shape;107;g325a69ecd98_0_3"/>
          <p:cNvGraphicFramePr/>
          <p:nvPr/>
        </p:nvGraphicFramePr>
        <p:xfrm>
          <a:off x="685800" y="1952075"/>
          <a:ext cx="3000000" cy="3000000"/>
        </p:xfrm>
        <a:graphic>
          <a:graphicData uri="http://schemas.openxmlformats.org/drawingml/2006/table">
            <a:tbl>
              <a:tblPr>
                <a:noFill/>
                <a:tableStyleId>{CB4434EB-0600-44F3-844D-F21A3910962E}</a:tableStyleId>
              </a:tblPr>
              <a:tblGrid>
                <a:gridCol w="3886200"/>
                <a:gridCol w="3886200"/>
              </a:tblGrid>
              <a:tr h="640300">
                <a:tc>
                  <a:txBody>
                    <a:bodyPr/>
                    <a:lstStyle/>
                    <a:p>
                      <a:pPr indent="0" lvl="0" marL="0" marR="0" rtl="0" algn="l">
                        <a:spcBef>
                          <a:spcPts val="0"/>
                        </a:spcBef>
                        <a:spcAft>
                          <a:spcPts val="0"/>
                        </a:spcAft>
                        <a:buClr>
                          <a:schemeClr val="dk1"/>
                        </a:buClr>
                        <a:buSzPts val="1800"/>
                        <a:buFont typeface="Arial"/>
                        <a:buNone/>
                      </a:pPr>
                      <a:r>
                        <a:rPr lang="en-US" sz="1800" u="none" cap="none" strike="noStrike"/>
                        <a:t>Accomplishments since 403       </a:t>
                      </a:r>
                      <a:endParaRPr sz="1800" u="none" cap="none" strike="noStrike"/>
                    </a:p>
                    <a:p>
                      <a:pPr indent="0" lvl="0" marL="0" marR="0" rtl="0" algn="l">
                        <a:spcBef>
                          <a:spcPts val="0"/>
                        </a:spcBef>
                        <a:spcAft>
                          <a:spcPts val="0"/>
                        </a:spcAft>
                        <a:buClr>
                          <a:schemeClr val="dk1"/>
                        </a:buClr>
                        <a:buSzPts val="1800"/>
                        <a:buFont typeface="Arial"/>
                        <a:buNone/>
                      </a:pPr>
                      <a:r>
                        <a:rPr lang="en-US" sz="1800">
                          <a:solidFill>
                            <a:srgbClr val="FF0000"/>
                          </a:solidFill>
                        </a:rPr>
                        <a:t>0 hrs of effort</a:t>
                      </a:r>
                      <a:r>
                        <a:rPr lang="en-US" sz="1800" u="none" cap="none" strike="noStrike"/>
                        <a:t>                   </a:t>
                      </a:r>
                      <a:endParaRPr sz="1800" u="none" cap="none" strike="noStrike">
                        <a:solidFill>
                          <a:srgbClr val="FF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spcBef>
                          <a:spcPts val="0"/>
                        </a:spcBef>
                        <a:spcAft>
                          <a:spcPts val="0"/>
                        </a:spcAft>
                        <a:buClr>
                          <a:schemeClr val="dk1"/>
                        </a:buClr>
                        <a:buSzPts val="1800"/>
                        <a:buFont typeface="Arial"/>
                        <a:buNone/>
                      </a:pPr>
                      <a:r>
                        <a:rPr lang="en-US" sz="1800" u="none" cap="none" strike="noStrike"/>
                        <a:t>Ongoing progress/problems and plans until the next presentation</a:t>
                      </a:r>
                      <a:endParaRPr sz="18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1734600">
                <a:tc>
                  <a:txBody>
                    <a:bodyPr/>
                    <a:lstStyle/>
                    <a:p>
                      <a:pPr indent="0" lvl="0" marL="0" marR="0" rtl="0" algn="l">
                        <a:spcBef>
                          <a:spcPts val="0"/>
                        </a:spcBef>
                        <a:spcAft>
                          <a:spcPts val="0"/>
                        </a:spcAft>
                        <a:buClr>
                          <a:schemeClr val="dk1"/>
                        </a:buClr>
                        <a:buSzPts val="1800"/>
                        <a:buFont typeface="Arial"/>
                        <a:buNone/>
                      </a:pPr>
                      <a:r>
                        <a:t/>
                      </a:r>
                      <a:endParaRPr sz="1800" u="none" cap="none" strike="noStrike"/>
                    </a:p>
                    <a:p>
                      <a:pPr indent="-342900" lvl="0" marL="457200" marR="0" rtl="0" algn="l">
                        <a:spcBef>
                          <a:spcPts val="0"/>
                        </a:spcBef>
                        <a:spcAft>
                          <a:spcPts val="0"/>
                        </a:spcAft>
                        <a:buSzPts val="1800"/>
                        <a:buChar char="●"/>
                      </a:pPr>
                      <a:r>
                        <a:rPr lang="en-US" sz="1800"/>
                        <a:t>Firebase Realtime Database is online, and displaying data from sensors</a:t>
                      </a:r>
                      <a:endParaRPr sz="1800"/>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457200" marR="0" rtl="0" algn="l">
                        <a:spcBef>
                          <a:spcPts val="0"/>
                        </a:spcBef>
                        <a:spcAft>
                          <a:spcPts val="0"/>
                        </a:spcAft>
                        <a:buSzPts val="1800"/>
                        <a:buChar char="●"/>
                      </a:pPr>
                      <a:r>
                        <a:rPr lang="en-US" sz="1800"/>
                        <a:t>Develop a method that adds new devices to the mobile app </a:t>
                      </a:r>
                      <a:endParaRPr sz="1800"/>
                    </a:p>
                    <a:p>
                      <a:pPr indent="-342900" lvl="0" marL="457200" marR="0" rtl="0" algn="l">
                        <a:spcBef>
                          <a:spcPts val="0"/>
                        </a:spcBef>
                        <a:spcAft>
                          <a:spcPts val="0"/>
                        </a:spcAft>
                        <a:buSzPts val="1800"/>
                        <a:buChar char="●"/>
                      </a:pPr>
                      <a:r>
                        <a:rPr lang="en-US" sz="1800"/>
                        <a:t>Update the code to account for changes in final PCB (e.g., resistor divider ratios)</a:t>
                      </a:r>
                      <a:endParaRPr sz="1800"/>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08" name="Google Shape;108;g325a69ecd98_0_3"/>
          <p:cNvSpPr txBox="1"/>
          <p:nvPr/>
        </p:nvSpPr>
        <p:spPr>
          <a:xfrm>
            <a:off x="1533235" y="5015346"/>
            <a:ext cx="6345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25a69ecd98_0_9"/>
          <p:cNvSpPr txBox="1"/>
          <p:nvPr>
            <p:ph type="title"/>
          </p:nvPr>
        </p:nvSpPr>
        <p:spPr>
          <a:xfrm>
            <a:off x="609600" y="1201577"/>
            <a:ext cx="8229600" cy="8037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990"/>
              <a:buFont typeface="Arial"/>
              <a:buNone/>
            </a:pPr>
            <a:r>
              <a:rPr lang="en-US"/>
              <a:t>Microcontroller Software </a:t>
            </a:r>
            <a:r>
              <a:rPr lang="en-US"/>
              <a:t>Subsystem </a:t>
            </a:r>
            <a:endParaRPr/>
          </a:p>
          <a:p>
            <a:pPr indent="0" lvl="0" marL="0" rtl="0" algn="ctr">
              <a:lnSpc>
                <a:spcPct val="115000"/>
              </a:lnSpc>
              <a:spcBef>
                <a:spcPts val="0"/>
              </a:spcBef>
              <a:spcAft>
                <a:spcPts val="0"/>
              </a:spcAft>
              <a:buClr>
                <a:schemeClr val="dk1"/>
              </a:buClr>
              <a:buSzPts val="990"/>
              <a:buFont typeface="Arial"/>
              <a:buNone/>
            </a:pPr>
            <a:r>
              <a:rPr lang="en-US" sz="1720"/>
              <a:t>Oscar Hernandez</a:t>
            </a:r>
            <a:endParaRPr sz="2980"/>
          </a:p>
        </p:txBody>
      </p:sp>
      <p:sp>
        <p:nvSpPr>
          <p:cNvPr id="114" name="Google Shape;114;g325a69ecd98_0_9"/>
          <p:cNvSpPr txBox="1"/>
          <p:nvPr/>
        </p:nvSpPr>
        <p:spPr>
          <a:xfrm>
            <a:off x="278027" y="4677700"/>
            <a:ext cx="5833500" cy="23088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n-US" sz="1800">
                <a:solidFill>
                  <a:schemeClr val="dk1"/>
                </a:solidFill>
              </a:rPr>
              <a:t>What Works:</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Microcontrollers read analog data from sensors and send it to Firebase using ADC </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Microcontrollers measure voltage level of backup battery</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Microcontrollers activate speaker whenever a fire is detected</a:t>
            </a:r>
            <a:endParaRPr sz="1800">
              <a:solidFill>
                <a:schemeClr val="dk1"/>
              </a:solidFill>
            </a:endParaRPr>
          </a:p>
          <a:p>
            <a:pPr indent="0" lvl="0" marL="0" marR="0" rtl="0" algn="l">
              <a:spcBef>
                <a:spcPts val="0"/>
              </a:spcBef>
              <a:spcAft>
                <a:spcPts val="0"/>
              </a:spcAft>
              <a:buNone/>
            </a:pPr>
            <a:r>
              <a:t/>
            </a:r>
            <a:endParaRPr sz="1800">
              <a:solidFill>
                <a:schemeClr val="dk1"/>
              </a:solidFill>
            </a:endParaRPr>
          </a:p>
        </p:txBody>
      </p:sp>
      <p:pic>
        <p:nvPicPr>
          <p:cNvPr id="115" name="Google Shape;115;g325a69ecd98_0_9"/>
          <p:cNvPicPr preferRelativeResize="0"/>
          <p:nvPr/>
        </p:nvPicPr>
        <p:blipFill>
          <a:blip r:embed="rId3">
            <a:alphaModFix/>
          </a:blip>
          <a:stretch>
            <a:fillRect/>
          </a:stretch>
        </p:blipFill>
        <p:spPr>
          <a:xfrm>
            <a:off x="1750250" y="1734675"/>
            <a:ext cx="5643505" cy="2943026"/>
          </a:xfrm>
          <a:prstGeom prst="rect">
            <a:avLst/>
          </a:prstGeom>
          <a:noFill/>
          <a:ln>
            <a:noFill/>
          </a:ln>
        </p:spPr>
      </p:pic>
      <p:sp>
        <p:nvSpPr>
          <p:cNvPr id="116" name="Google Shape;116;g325a69ecd98_0_9"/>
          <p:cNvSpPr txBox="1"/>
          <p:nvPr/>
        </p:nvSpPr>
        <p:spPr>
          <a:xfrm>
            <a:off x="5774725" y="4677700"/>
            <a:ext cx="30000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800">
                <a:solidFill>
                  <a:schemeClr val="dk1"/>
                </a:solidFill>
              </a:rPr>
              <a:t>What Doesn’t Work:</a:t>
            </a:r>
            <a:endParaRPr sz="1800">
              <a:solidFill>
                <a:schemeClr val="dk1"/>
              </a:solidFill>
            </a:endParaRPr>
          </a:p>
          <a:p>
            <a:pPr indent="-342900" lvl="0" marL="457200" rtl="0" algn="l">
              <a:spcBef>
                <a:spcPts val="0"/>
              </a:spcBef>
              <a:spcAft>
                <a:spcPts val="0"/>
              </a:spcAft>
              <a:buClr>
                <a:schemeClr val="dk1"/>
              </a:buClr>
              <a:buSzPts val="1800"/>
              <a:buChar char="●"/>
            </a:pPr>
            <a:r>
              <a:rPr lang="en-US" sz="1800"/>
              <a:t>Smoke sensor powers up, but difficulty in controlling logic of I2C registers</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25a69ecd98_0_15"/>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990"/>
              <a:buFont typeface="Arial"/>
              <a:buNone/>
            </a:pPr>
            <a:r>
              <a:rPr lang="en-US"/>
              <a:t>Mobile Application Subsystem</a:t>
            </a:r>
            <a:endParaRPr/>
          </a:p>
          <a:p>
            <a:pPr indent="0" lvl="0" marL="0" rtl="0" algn="ctr">
              <a:lnSpc>
                <a:spcPct val="115000"/>
              </a:lnSpc>
              <a:spcBef>
                <a:spcPts val="0"/>
              </a:spcBef>
              <a:spcAft>
                <a:spcPts val="0"/>
              </a:spcAft>
              <a:buClr>
                <a:schemeClr val="dk1"/>
              </a:buClr>
              <a:buSzPts val="990"/>
              <a:buFont typeface="Arial"/>
              <a:buNone/>
            </a:pPr>
            <a:r>
              <a:rPr lang="en-US" sz="1720"/>
              <a:t>Alfonso Wong</a:t>
            </a:r>
            <a:endParaRPr sz="2980"/>
          </a:p>
        </p:txBody>
      </p:sp>
      <p:graphicFrame>
        <p:nvGraphicFramePr>
          <p:cNvPr id="122" name="Google Shape;122;g325a69ecd98_0_15"/>
          <p:cNvGraphicFramePr/>
          <p:nvPr/>
        </p:nvGraphicFramePr>
        <p:xfrm>
          <a:off x="685800" y="1952075"/>
          <a:ext cx="3000000" cy="3000000"/>
        </p:xfrm>
        <a:graphic>
          <a:graphicData uri="http://schemas.openxmlformats.org/drawingml/2006/table">
            <a:tbl>
              <a:tblPr>
                <a:noFill/>
                <a:tableStyleId>{CB4434EB-0600-44F3-844D-F21A3910962E}</a:tableStyleId>
              </a:tblPr>
              <a:tblGrid>
                <a:gridCol w="3964150"/>
                <a:gridCol w="3964150"/>
              </a:tblGrid>
              <a:tr h="800775">
                <a:tc>
                  <a:txBody>
                    <a:bodyPr/>
                    <a:lstStyle/>
                    <a:p>
                      <a:pPr indent="0" lvl="0" marL="0" marR="0" rtl="0" algn="l">
                        <a:spcBef>
                          <a:spcPts val="0"/>
                        </a:spcBef>
                        <a:spcAft>
                          <a:spcPts val="0"/>
                        </a:spcAft>
                        <a:buClr>
                          <a:schemeClr val="dk1"/>
                        </a:buClr>
                        <a:buSzPts val="1800"/>
                        <a:buFont typeface="Arial"/>
                        <a:buNone/>
                      </a:pPr>
                      <a:r>
                        <a:rPr lang="en-US" sz="1800" u="none" cap="none" strike="noStrike"/>
                        <a:t>Accomplishments since 403                          </a:t>
                      </a:r>
                      <a:r>
                        <a:rPr lang="en-US" sz="1800">
                          <a:solidFill>
                            <a:srgbClr val="FF0000"/>
                          </a:solidFill>
                        </a:rPr>
                        <a:t>2</a:t>
                      </a:r>
                      <a:r>
                        <a:rPr lang="en-US" sz="1800" u="none" cap="none" strike="noStrike">
                          <a:solidFill>
                            <a:srgbClr val="FF0000"/>
                          </a:solidFill>
                        </a:rPr>
                        <a:t> hrs of effort</a:t>
                      </a:r>
                      <a:endParaRPr sz="1800" u="none" cap="none" strike="noStrike">
                        <a:solidFill>
                          <a:srgbClr val="FF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spcBef>
                          <a:spcPts val="0"/>
                        </a:spcBef>
                        <a:spcAft>
                          <a:spcPts val="0"/>
                        </a:spcAft>
                        <a:buClr>
                          <a:schemeClr val="dk1"/>
                        </a:buClr>
                        <a:buSzPts val="1800"/>
                        <a:buFont typeface="Arial"/>
                        <a:buNone/>
                      </a:pPr>
                      <a:r>
                        <a:rPr lang="en-US" sz="1800" u="none" cap="none" strike="noStrike"/>
                        <a:t>Ongoing progress/problems and plans until the next presentation</a:t>
                      </a:r>
                      <a:endParaRPr sz="18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2169300">
                <a:tc>
                  <a:txBody>
                    <a:bodyPr/>
                    <a:lstStyle/>
                    <a:p>
                      <a:pPr indent="0" lvl="0" marL="0" marR="0" rtl="0" algn="l">
                        <a:spcBef>
                          <a:spcPts val="0"/>
                        </a:spcBef>
                        <a:spcAft>
                          <a:spcPts val="0"/>
                        </a:spcAft>
                        <a:buClr>
                          <a:schemeClr val="dk1"/>
                        </a:buClr>
                        <a:buSzPts val="1800"/>
                        <a:buFont typeface="Arial"/>
                        <a:buNone/>
                      </a:pPr>
                      <a:r>
                        <a:t/>
                      </a:r>
                      <a:endParaRPr sz="1800" u="none" cap="none" strike="noStrike"/>
                    </a:p>
                    <a:p>
                      <a:pPr indent="-342900" lvl="0" marL="457200" marR="0" rtl="0" algn="l">
                        <a:spcBef>
                          <a:spcPts val="0"/>
                        </a:spcBef>
                        <a:spcAft>
                          <a:spcPts val="0"/>
                        </a:spcAft>
                        <a:buSzPts val="1800"/>
                        <a:buChar char="●"/>
                      </a:pPr>
                      <a:r>
                        <a:rPr lang="en-US" sz="1800"/>
                        <a:t>The mobile application is back up and running and able to pull data from the database (Firebase)</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457200" marR="0" rtl="0" algn="l">
                        <a:spcBef>
                          <a:spcPts val="0"/>
                        </a:spcBef>
                        <a:spcAft>
                          <a:spcPts val="0"/>
                        </a:spcAft>
                        <a:buSzPts val="1800"/>
                        <a:buChar char="●"/>
                      </a:pPr>
                      <a:r>
                        <a:rPr lang="en-US" sz="1800"/>
                        <a:t>Develop the feature of adding a device to the app</a:t>
                      </a:r>
                      <a:endParaRPr sz="1800"/>
                    </a:p>
                    <a:p>
                      <a:pPr indent="-342900" lvl="0" marL="457200" marR="0" rtl="0" algn="l">
                        <a:spcBef>
                          <a:spcPts val="0"/>
                        </a:spcBef>
                        <a:spcAft>
                          <a:spcPts val="0"/>
                        </a:spcAft>
                        <a:buSzPts val="1800"/>
                        <a:buChar char="●"/>
                      </a:pPr>
                      <a:r>
                        <a:rPr lang="en-US" sz="1800"/>
                        <a:t>Change the notification system to 911 dispatcher</a:t>
                      </a:r>
                      <a:endParaRPr sz="1800"/>
                    </a:p>
                    <a:p>
                      <a:pPr indent="-342900" lvl="0" marL="457200" marR="0" rtl="0" algn="l">
                        <a:spcBef>
                          <a:spcPts val="0"/>
                        </a:spcBef>
                        <a:spcAft>
                          <a:spcPts val="0"/>
                        </a:spcAft>
                        <a:buSzPts val="1800"/>
                        <a:buChar char="●"/>
                      </a:pPr>
                      <a:r>
                        <a:rPr lang="en-US" sz="1800"/>
                        <a:t>Fix picture upload to application</a:t>
                      </a:r>
                      <a:endParaRPr sz="1800"/>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23" name="Google Shape;123;g325a69ecd98_0_15"/>
          <p:cNvSpPr txBox="1"/>
          <p:nvPr/>
        </p:nvSpPr>
        <p:spPr>
          <a:xfrm>
            <a:off x="1533235" y="5015346"/>
            <a:ext cx="6345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25a69ecd98_0_21"/>
          <p:cNvSpPr txBox="1"/>
          <p:nvPr>
            <p:ph type="title"/>
          </p:nvPr>
        </p:nvSpPr>
        <p:spPr>
          <a:xfrm>
            <a:off x="609600" y="1201577"/>
            <a:ext cx="8229600" cy="8037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990"/>
              <a:buFont typeface="Arial"/>
              <a:buNone/>
            </a:pPr>
            <a:r>
              <a:rPr lang="en-US"/>
              <a:t>Mobile Application Subsystem</a:t>
            </a:r>
            <a:endParaRPr/>
          </a:p>
          <a:p>
            <a:pPr indent="0" lvl="0" marL="0" rtl="0" algn="ctr">
              <a:lnSpc>
                <a:spcPct val="115000"/>
              </a:lnSpc>
              <a:spcBef>
                <a:spcPts val="0"/>
              </a:spcBef>
              <a:spcAft>
                <a:spcPts val="0"/>
              </a:spcAft>
              <a:buClr>
                <a:schemeClr val="dk1"/>
              </a:buClr>
              <a:buSzPts val="990"/>
              <a:buFont typeface="Arial"/>
              <a:buNone/>
            </a:pPr>
            <a:r>
              <a:rPr lang="en-US" sz="1720"/>
              <a:t>Alfonso Wong</a:t>
            </a:r>
            <a:endParaRPr sz="2980"/>
          </a:p>
        </p:txBody>
      </p:sp>
      <p:sp>
        <p:nvSpPr>
          <p:cNvPr id="129" name="Google Shape;129;g325a69ecd98_0_21"/>
          <p:cNvSpPr txBox="1"/>
          <p:nvPr/>
        </p:nvSpPr>
        <p:spPr>
          <a:xfrm>
            <a:off x="267100" y="2005275"/>
            <a:ext cx="5110200" cy="529500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rPr b="1" lang="en-US" sz="1800">
                <a:solidFill>
                  <a:schemeClr val="dk1"/>
                </a:solidFill>
              </a:rPr>
              <a:t>Functioning</a:t>
            </a:r>
            <a:endParaRPr b="1" sz="1800">
              <a:solidFill>
                <a:schemeClr val="dk1"/>
              </a:solidFill>
            </a:endParaRPr>
          </a:p>
          <a:p>
            <a:pPr indent="-342900" lvl="0" marL="457200" marR="0" rtl="0" algn="l">
              <a:spcBef>
                <a:spcPts val="0"/>
              </a:spcBef>
              <a:spcAft>
                <a:spcPts val="0"/>
              </a:spcAft>
              <a:buClr>
                <a:schemeClr val="dk1"/>
              </a:buClr>
              <a:buSzPts val="1800"/>
              <a:buChar char="●"/>
            </a:pPr>
            <a:r>
              <a:rPr lang="en-US" sz="1800">
                <a:solidFill>
                  <a:schemeClr val="dk1"/>
                </a:solidFill>
              </a:rPr>
              <a:t>User account creation</a:t>
            </a:r>
            <a:endParaRPr sz="1800">
              <a:solidFill>
                <a:schemeClr val="dk1"/>
              </a:solidFill>
            </a:endParaRPr>
          </a:p>
          <a:p>
            <a:pPr indent="-342900" lvl="1" marL="914400" marR="0" rtl="0" algn="l">
              <a:spcBef>
                <a:spcPts val="0"/>
              </a:spcBef>
              <a:spcAft>
                <a:spcPts val="0"/>
              </a:spcAft>
              <a:buClr>
                <a:schemeClr val="dk1"/>
              </a:buClr>
              <a:buSzPts val="1800"/>
              <a:buChar char="‒"/>
            </a:pPr>
            <a:r>
              <a:rPr lang="en-US" sz="1800">
                <a:solidFill>
                  <a:schemeClr val="dk1"/>
                </a:solidFill>
              </a:rPr>
              <a:t>Gets users information (name, age, address, type of building, expected occupants, etc.)</a:t>
            </a:r>
            <a:endParaRPr sz="1800">
              <a:solidFill>
                <a:schemeClr val="dk1"/>
              </a:solidFill>
            </a:endParaRPr>
          </a:p>
          <a:p>
            <a:pPr indent="-342900" lvl="0" marL="457200" marR="0" rtl="0" algn="l">
              <a:spcBef>
                <a:spcPts val="0"/>
              </a:spcBef>
              <a:spcAft>
                <a:spcPts val="0"/>
              </a:spcAft>
              <a:buClr>
                <a:schemeClr val="dk1"/>
              </a:buClr>
              <a:buSzPts val="1800"/>
              <a:buChar char="●"/>
            </a:pPr>
            <a:r>
              <a:rPr lang="en-US" sz="1800">
                <a:solidFill>
                  <a:schemeClr val="dk1"/>
                </a:solidFill>
              </a:rPr>
              <a:t>Database (writing/reading data)</a:t>
            </a:r>
            <a:endParaRPr sz="1800">
              <a:solidFill>
                <a:schemeClr val="dk1"/>
              </a:solidFill>
            </a:endParaRPr>
          </a:p>
          <a:p>
            <a:pPr indent="0" lvl="0" marL="457200" marR="0" rtl="0" algn="l">
              <a:spcBef>
                <a:spcPts val="0"/>
              </a:spcBef>
              <a:spcAft>
                <a:spcPts val="0"/>
              </a:spcAft>
              <a:buNone/>
            </a:pPr>
            <a:r>
              <a:t/>
            </a:r>
            <a:endParaRPr sz="1800">
              <a:solidFill>
                <a:schemeClr val="dk1"/>
              </a:solidFill>
            </a:endParaRPr>
          </a:p>
          <a:p>
            <a:pPr indent="0" lvl="0" marL="457200" marR="0" rtl="0" algn="l">
              <a:spcBef>
                <a:spcPts val="0"/>
              </a:spcBef>
              <a:spcAft>
                <a:spcPts val="0"/>
              </a:spcAft>
              <a:buNone/>
            </a:pPr>
            <a:r>
              <a:rPr b="1" lang="en-US" sz="1800">
                <a:solidFill>
                  <a:schemeClr val="dk1"/>
                </a:solidFill>
              </a:rPr>
              <a:t>Non-Functioning</a:t>
            </a:r>
            <a:endParaRPr b="1" sz="1800">
              <a:solidFill>
                <a:schemeClr val="dk1"/>
              </a:solidFill>
            </a:endParaRPr>
          </a:p>
          <a:p>
            <a:pPr indent="-342900" lvl="0" marL="457200" marR="0" rtl="0" algn="l">
              <a:spcBef>
                <a:spcPts val="0"/>
              </a:spcBef>
              <a:spcAft>
                <a:spcPts val="0"/>
              </a:spcAft>
              <a:buClr>
                <a:schemeClr val="dk1"/>
              </a:buClr>
              <a:buSzPts val="1800"/>
              <a:buChar char="●"/>
            </a:pPr>
            <a:r>
              <a:rPr lang="en-US" sz="1800">
                <a:solidFill>
                  <a:schemeClr val="dk1"/>
                </a:solidFill>
              </a:rPr>
              <a:t>Communication to Fire </a:t>
            </a:r>
            <a:r>
              <a:rPr lang="en-US" sz="1800">
                <a:solidFill>
                  <a:schemeClr val="dk1"/>
                </a:solidFill>
              </a:rPr>
              <a:t>Department</a:t>
            </a:r>
            <a:r>
              <a:rPr lang="en-US" sz="1800">
                <a:solidFill>
                  <a:schemeClr val="dk1"/>
                </a:solidFill>
              </a:rPr>
              <a:t>/Switch to 911 central dispatcher</a:t>
            </a:r>
            <a:endParaRPr sz="1800">
              <a:solidFill>
                <a:schemeClr val="dk1"/>
              </a:solidFill>
            </a:endParaRPr>
          </a:p>
          <a:p>
            <a:pPr indent="-342900" lvl="0" marL="457200" marR="0" rtl="0" algn="l">
              <a:spcBef>
                <a:spcPts val="0"/>
              </a:spcBef>
              <a:spcAft>
                <a:spcPts val="0"/>
              </a:spcAft>
              <a:buClr>
                <a:schemeClr val="dk1"/>
              </a:buClr>
              <a:buSzPts val="1800"/>
              <a:buChar char="●"/>
            </a:pPr>
            <a:r>
              <a:rPr lang="en-US" sz="1800">
                <a:solidFill>
                  <a:schemeClr val="dk1"/>
                </a:solidFill>
              </a:rPr>
              <a:t>Centralized: Central dispatch centers are designed to handle emergency alerts and route them to the appropriate fire department. Central dispatch can reroute alerts if one department is unavailable, minimizing the risk of delays in response time. </a:t>
            </a:r>
            <a:endParaRPr sz="1800">
              <a:solidFill>
                <a:schemeClr val="dk1"/>
              </a:solidFill>
            </a:endParaRPr>
          </a:p>
          <a:p>
            <a:pPr indent="0" lvl="0" marL="457200" marR="0" rtl="0" algn="l">
              <a:spcBef>
                <a:spcPts val="0"/>
              </a:spcBef>
              <a:spcAft>
                <a:spcPts val="0"/>
              </a:spcAft>
              <a:buNone/>
            </a:pPr>
            <a:r>
              <a:t/>
            </a:r>
            <a:endParaRPr sz="1800">
              <a:solidFill>
                <a:schemeClr val="dk1"/>
              </a:solidFill>
            </a:endParaRPr>
          </a:p>
          <a:p>
            <a:pPr indent="0" lvl="0" marL="0" marR="0" rtl="0" algn="l">
              <a:spcBef>
                <a:spcPts val="0"/>
              </a:spcBef>
              <a:spcAft>
                <a:spcPts val="0"/>
              </a:spcAft>
              <a:buNone/>
            </a:pPr>
            <a:r>
              <a:t/>
            </a:r>
            <a:endParaRPr/>
          </a:p>
        </p:txBody>
      </p:sp>
      <p:pic>
        <p:nvPicPr>
          <p:cNvPr id="130" name="Google Shape;130;g325a69ecd98_0_21"/>
          <p:cNvPicPr preferRelativeResize="0"/>
          <p:nvPr/>
        </p:nvPicPr>
        <p:blipFill rotWithShape="1">
          <a:blip r:embed="rId3">
            <a:alphaModFix/>
          </a:blip>
          <a:srcRect b="0" l="0" r="0" t="0"/>
          <a:stretch/>
        </p:blipFill>
        <p:spPr>
          <a:xfrm>
            <a:off x="5377300" y="2326675"/>
            <a:ext cx="3644225" cy="37185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type="title"/>
          </p:nvPr>
        </p:nvSpPr>
        <p:spPr>
          <a:xfrm>
            <a:off x="457200" y="896777"/>
            <a:ext cx="8229600" cy="803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Parts Ordering Status</a:t>
            </a:r>
            <a:endParaRPr/>
          </a:p>
        </p:txBody>
      </p:sp>
      <p:sp>
        <p:nvSpPr>
          <p:cNvPr id="136" name="Google Shape;136;p8"/>
          <p:cNvSpPr txBox="1"/>
          <p:nvPr/>
        </p:nvSpPr>
        <p:spPr>
          <a:xfrm>
            <a:off x="697400" y="1968806"/>
            <a:ext cx="7541100" cy="3971100"/>
          </a:xfrm>
          <a:prstGeom prst="rect">
            <a:avLst/>
          </a:prstGeom>
          <a:noFill/>
          <a:ln>
            <a:noFill/>
          </a:ln>
        </p:spPr>
        <p:txBody>
          <a:bodyPr anchorCtr="0" anchor="t" bIns="45700" lIns="91425" spcFirstLastPara="1" rIns="91425" wrap="square" tIns="45700">
            <a:spAutoFit/>
          </a:bodyPr>
          <a:lstStyle/>
          <a:p>
            <a:pPr indent="0" lvl="0" marL="457200" rtl="0" algn="l">
              <a:spcBef>
                <a:spcPts val="0"/>
              </a:spcBef>
              <a:spcAft>
                <a:spcPts val="0"/>
              </a:spcAft>
              <a:buNone/>
            </a:pPr>
            <a:r>
              <a:rPr b="1" lang="en-US" sz="1800">
                <a:solidFill>
                  <a:schemeClr val="dk1"/>
                </a:solidFill>
              </a:rPr>
              <a:t>Hardware Subsystem Parts Status</a:t>
            </a:r>
            <a:endParaRPr b="1"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Reorder parts needed or parts not already bought in bulk:</a:t>
            </a:r>
            <a:endParaRPr sz="1800">
              <a:solidFill>
                <a:schemeClr val="dk1"/>
              </a:solidFill>
            </a:endParaRPr>
          </a:p>
          <a:p>
            <a:pPr indent="-342900" lvl="1" marL="914400" rtl="0" algn="l">
              <a:spcBef>
                <a:spcPts val="0"/>
              </a:spcBef>
              <a:spcAft>
                <a:spcPts val="0"/>
              </a:spcAft>
              <a:buClr>
                <a:schemeClr val="dk1"/>
              </a:buClr>
              <a:buSzPts val="1800"/>
              <a:buChar char="○"/>
            </a:pPr>
            <a:r>
              <a:rPr lang="en-US" sz="1800">
                <a:solidFill>
                  <a:schemeClr val="dk1"/>
                </a:solidFill>
              </a:rPr>
              <a:t>Fixed PCB</a:t>
            </a:r>
            <a:endParaRPr sz="1800">
              <a:solidFill>
                <a:schemeClr val="dk1"/>
              </a:solidFill>
            </a:endParaRPr>
          </a:p>
          <a:p>
            <a:pPr indent="-342900" lvl="1" marL="914400" rtl="0" algn="l">
              <a:spcBef>
                <a:spcPts val="0"/>
              </a:spcBef>
              <a:spcAft>
                <a:spcPts val="0"/>
              </a:spcAft>
              <a:buClr>
                <a:schemeClr val="dk1"/>
              </a:buClr>
              <a:buSzPts val="1800"/>
              <a:buChar char="○"/>
            </a:pPr>
            <a:r>
              <a:rPr lang="en-US" sz="1800">
                <a:solidFill>
                  <a:schemeClr val="dk1"/>
                </a:solidFill>
              </a:rPr>
              <a:t>Regulator</a:t>
            </a:r>
            <a:endParaRPr sz="1800">
              <a:solidFill>
                <a:schemeClr val="dk1"/>
              </a:solidFill>
            </a:endParaRPr>
          </a:p>
          <a:p>
            <a:pPr indent="-342900" lvl="1" marL="914400" rtl="0" algn="l">
              <a:spcBef>
                <a:spcPts val="0"/>
              </a:spcBef>
              <a:spcAft>
                <a:spcPts val="0"/>
              </a:spcAft>
              <a:buClr>
                <a:schemeClr val="dk1"/>
              </a:buClr>
              <a:buSzPts val="1800"/>
              <a:buChar char="○"/>
            </a:pPr>
            <a:r>
              <a:rPr lang="en-US" sz="1800">
                <a:solidFill>
                  <a:schemeClr val="dk1"/>
                </a:solidFill>
              </a:rPr>
              <a:t>Buck Converter</a:t>
            </a:r>
            <a:endParaRPr sz="1800">
              <a:solidFill>
                <a:schemeClr val="dk1"/>
              </a:solidFill>
            </a:endParaRPr>
          </a:p>
          <a:p>
            <a:pPr indent="-342900" lvl="1" marL="914400" rtl="0" algn="l">
              <a:spcBef>
                <a:spcPts val="0"/>
              </a:spcBef>
              <a:spcAft>
                <a:spcPts val="0"/>
              </a:spcAft>
              <a:buClr>
                <a:schemeClr val="dk1"/>
              </a:buClr>
              <a:buSzPts val="1800"/>
              <a:buChar char="○"/>
            </a:pPr>
            <a:r>
              <a:rPr lang="en-US" sz="1800">
                <a:solidFill>
                  <a:schemeClr val="dk1"/>
                </a:solidFill>
              </a:rPr>
              <a:t>AC/DC Converter</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rPr b="1" lang="en-US" sz="1800">
                <a:solidFill>
                  <a:schemeClr val="dk1"/>
                </a:solidFill>
              </a:rPr>
              <a:t>Microcontroller and Network Subsystem Parts Status</a:t>
            </a:r>
            <a:endParaRPr b="1"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Order additional MCUs to simulate network nodes as needed</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rPr b="1" lang="en-US" sz="1800">
                <a:solidFill>
                  <a:schemeClr val="dk1"/>
                </a:solidFill>
              </a:rPr>
              <a:t>Mobile Application Subsystem</a:t>
            </a:r>
            <a:endParaRPr b="1"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If needed, I will pay for the subscription to APIs. (~$2/month)</a:t>
            </a:r>
            <a:endParaRPr sz="1800">
              <a:solidFill>
                <a:schemeClr val="dk1"/>
              </a:solidFill>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171450" lvl="1" marL="7429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ph type="title"/>
          </p:nvPr>
        </p:nvSpPr>
        <p:spPr>
          <a:xfrm>
            <a:off x="457200" y="732877"/>
            <a:ext cx="8229600" cy="803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Execution &amp; Plan</a:t>
            </a:r>
            <a:endParaRPr/>
          </a:p>
        </p:txBody>
      </p:sp>
      <p:pic>
        <p:nvPicPr>
          <p:cNvPr id="142" name="Google Shape;142;p9"/>
          <p:cNvPicPr preferRelativeResize="0"/>
          <p:nvPr/>
        </p:nvPicPr>
        <p:blipFill>
          <a:blip r:embed="rId3">
            <a:alphaModFix/>
          </a:blip>
          <a:stretch>
            <a:fillRect/>
          </a:stretch>
        </p:blipFill>
        <p:spPr>
          <a:xfrm>
            <a:off x="0" y="1387700"/>
            <a:ext cx="9144003" cy="3799577"/>
          </a:xfrm>
          <a:prstGeom prst="rect">
            <a:avLst/>
          </a:prstGeom>
          <a:noFill/>
          <a:ln>
            <a:noFill/>
          </a:ln>
        </p:spPr>
      </p:pic>
      <p:pic>
        <p:nvPicPr>
          <p:cNvPr id="143" name="Google Shape;143;p9"/>
          <p:cNvPicPr preferRelativeResize="0"/>
          <p:nvPr/>
        </p:nvPicPr>
        <p:blipFill>
          <a:blip r:embed="rId4">
            <a:alphaModFix/>
          </a:blip>
          <a:stretch>
            <a:fillRect/>
          </a:stretch>
        </p:blipFill>
        <p:spPr>
          <a:xfrm>
            <a:off x="6343850" y="5187275"/>
            <a:ext cx="2677994" cy="1670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25a69ecd98_0_33"/>
          <p:cNvSpPr txBox="1"/>
          <p:nvPr>
            <p:ph type="title"/>
          </p:nvPr>
        </p:nvSpPr>
        <p:spPr>
          <a:xfrm>
            <a:off x="457200" y="774702"/>
            <a:ext cx="8229600" cy="803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lang="en-US"/>
              <a:t>Validation Plan</a:t>
            </a:r>
            <a:endParaRPr/>
          </a:p>
        </p:txBody>
      </p:sp>
      <p:graphicFrame>
        <p:nvGraphicFramePr>
          <p:cNvPr id="149" name="Google Shape;149;g325a69ecd98_0_33"/>
          <p:cNvGraphicFramePr/>
          <p:nvPr/>
        </p:nvGraphicFramePr>
        <p:xfrm>
          <a:off x="522225" y="1492700"/>
          <a:ext cx="3000000" cy="3000000"/>
        </p:xfrm>
        <a:graphic>
          <a:graphicData uri="http://schemas.openxmlformats.org/drawingml/2006/table">
            <a:tbl>
              <a:tblPr>
                <a:noFill/>
                <a:tableStyleId>{CC42FE31-0953-4F3C-ACFC-C735F2E23593}</a:tableStyleId>
              </a:tblPr>
              <a:tblGrid>
                <a:gridCol w="1734225"/>
                <a:gridCol w="3533225"/>
                <a:gridCol w="966825"/>
                <a:gridCol w="1608400"/>
              </a:tblGrid>
              <a:tr h="555300">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Test Name</a:t>
                      </a:r>
                      <a:endParaRPr b="1" sz="12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Success Criteria</a:t>
                      </a:r>
                      <a:endParaRPr b="1" sz="12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Status</a:t>
                      </a:r>
                      <a:endParaRPr b="1" sz="12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Responsible Engineers</a:t>
                      </a:r>
                      <a:endParaRPr b="1" sz="12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Sensor Functionality</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Sensors detect smoke/flame at expected ranges and output a signal.</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Untested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Martin Ford</a:t>
                      </a:r>
                      <a:endParaRPr sz="1000" u="none" cap="none" strike="noStrike"/>
                    </a:p>
                  </a:txBody>
                  <a:tcPr marT="91425" marB="91425" marR="91425" marL="91425" anchor="ctr"/>
                </a:tc>
              </a:tr>
              <a:tr h="454200">
                <a:tc>
                  <a:txBody>
                    <a:bodyPr/>
                    <a:lstStyle/>
                    <a:p>
                      <a:pPr indent="0" lvl="0" marL="0" marR="0" rtl="0" algn="ctr">
                        <a:lnSpc>
                          <a:spcPct val="100000"/>
                        </a:lnSpc>
                        <a:spcBef>
                          <a:spcPts val="0"/>
                        </a:spcBef>
                        <a:spcAft>
                          <a:spcPts val="0"/>
                        </a:spcAft>
                        <a:buClr>
                          <a:srgbClr val="000000"/>
                        </a:buClr>
                        <a:buSzPts val="1000"/>
                        <a:buFont typeface="Arial"/>
                        <a:buNone/>
                      </a:pPr>
                      <a:r>
                        <a:rPr lang="en-US" sz="1000"/>
                        <a:t>Speaker Functionality</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a:t>Speaker emits sound from signal at &gt;80 dB.</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solidFill>
                            <a:schemeClr val="dk1"/>
                          </a:solidFill>
                        </a:rPr>
                        <a:t>Untested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Martin Ford</a:t>
                      </a:r>
                      <a:endParaRPr sz="10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Operating Time</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System operates and </a:t>
                      </a:r>
                      <a:r>
                        <a:rPr lang="en-US" sz="1000"/>
                        <a:t>receives full power </a:t>
                      </a:r>
                      <a:r>
                        <a:rPr lang="en-US" sz="1000" u="none" cap="none" strike="noStrike"/>
                        <a:t>continuously for 1 hour on each power source. </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solidFill>
                            <a:schemeClr val="dk1"/>
                          </a:solidFill>
                        </a:rPr>
                        <a:t>Untested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Martin Ford</a:t>
                      </a:r>
                      <a:endParaRPr sz="1000" u="none" cap="none" strike="noStrike"/>
                    </a:p>
                  </a:txBody>
                  <a:tcPr marT="91425" marB="91425" marR="91425" marL="91425" anchor="ctr"/>
                </a:tc>
              </a:tr>
              <a:tr h="49362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             Network</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 MCU is able to aggregate all </a:t>
                      </a:r>
                      <a:r>
                        <a:rPr lang="en-US" sz="1000"/>
                        <a:t>sensor</a:t>
                      </a:r>
                      <a:r>
                        <a:rPr lang="en-US" sz="1000" u="none" cap="none" strike="noStrike"/>
                        <a:t> data to the gateway.</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a:solidFill>
                            <a:schemeClr val="dk1"/>
                          </a:solidFill>
                        </a:rPr>
                        <a:t>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Oscar Hernandez</a:t>
                      </a:r>
                      <a:endParaRPr sz="10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Trouble Signal</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MCU sends trouble signal to app for malfunctioning node.</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a:solidFill>
                            <a:schemeClr val="dk1"/>
                          </a:solidFill>
                        </a:rPr>
                        <a:t>Tested</a:t>
                      </a:r>
                      <a:endParaRPr sz="1000" u="none" cap="none" strike="noStrike">
                        <a:solidFill>
                          <a:schemeClr val="dk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Oscar Hernandez</a:t>
                      </a:r>
                      <a:endParaRPr sz="1000" u="none" cap="none" strike="noStrike"/>
                    </a:p>
                  </a:txBody>
                  <a:tcPr marT="91425" marB="91425" marR="91425" marL="91425" anchor="ctr"/>
                </a:tc>
              </a:tr>
              <a:tr h="354850">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User Profile Creation</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User is able to create an account and be able to sign in.</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a:solidFill>
                            <a:schemeClr val="dk1"/>
                          </a:solidFill>
                        </a:rPr>
                        <a:t>T</a:t>
                      </a:r>
                      <a:r>
                        <a:rPr lang="en-US" sz="1000" u="none" cap="none" strike="noStrike">
                          <a:solidFill>
                            <a:schemeClr val="dk1"/>
                          </a:solidFill>
                        </a:rPr>
                        <a: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Alfonso Wong</a:t>
                      </a:r>
                      <a:endParaRPr sz="10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Push Notifications</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Be able to push notifications to both users and firefighter department.</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solidFill>
                            <a:schemeClr val="dk1"/>
                          </a:solidFill>
                        </a:rPr>
                        <a:t>Untested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chemeClr val="dk1"/>
                        </a:buClr>
                        <a:buSzPts val="1100"/>
                        <a:buFont typeface="Arial"/>
                        <a:buNone/>
                      </a:pPr>
                      <a:r>
                        <a:rPr lang="en-US" sz="1000" u="none" cap="none" strike="noStrike">
                          <a:solidFill>
                            <a:schemeClr val="dk1"/>
                          </a:solidFill>
                        </a:rPr>
                        <a:t>Alfonso Wong</a:t>
                      </a:r>
                      <a:endParaRPr sz="1000" u="none" cap="none" strike="noStrike">
                        <a:solidFill>
                          <a:schemeClr val="dk1"/>
                        </a:solidFill>
                      </a:endParaRPr>
                    </a:p>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Design UI</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Have a working UI and test with emulator.</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a:solidFill>
                            <a:schemeClr val="dk1"/>
                          </a:solidFill>
                        </a:rPr>
                        <a:t>T</a:t>
                      </a:r>
                      <a:r>
                        <a:rPr lang="en-US" sz="1000" u="none" cap="none" strike="noStrike">
                          <a:solidFill>
                            <a:schemeClr val="dk1"/>
                          </a:solidFill>
                        </a:rPr>
                        <a: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chemeClr val="dk1"/>
                        </a:buClr>
                        <a:buSzPts val="1100"/>
                        <a:buFont typeface="Arial"/>
                        <a:buNone/>
                      </a:pPr>
                      <a:r>
                        <a:rPr lang="en-US" sz="1000" u="none" cap="none" strike="noStrike">
                          <a:solidFill>
                            <a:schemeClr val="dk1"/>
                          </a:solidFill>
                        </a:rPr>
                        <a:t>Alfonso Wong</a:t>
                      </a:r>
                      <a:endParaRPr sz="1000" u="none" cap="none" strike="noStrike">
                        <a:solidFill>
                          <a:schemeClr val="dk1"/>
                        </a:solidFill>
                      </a:endParaRPr>
                    </a:p>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Integrate Cloud Service</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Mobile app has ability to pull data from cloud service and display it.</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a:solidFill>
                            <a:schemeClr val="dk1"/>
                          </a:solidFill>
                        </a:rPr>
                        <a:t>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chemeClr val="dk1"/>
                        </a:buClr>
                        <a:buSzPts val="1100"/>
                        <a:buFont typeface="Arial"/>
                        <a:buNone/>
                      </a:pPr>
                      <a:r>
                        <a:rPr lang="en-US" sz="1000" u="none" cap="none" strike="noStrike">
                          <a:solidFill>
                            <a:schemeClr val="dk1"/>
                          </a:solidFill>
                        </a:rPr>
                        <a:t>Alfonso Wong</a:t>
                      </a:r>
                      <a:endParaRPr sz="1000" u="none" cap="none" strike="noStrike">
                        <a:solidFill>
                          <a:schemeClr val="dk1"/>
                        </a:solidFill>
                      </a:endParaRPr>
                    </a:p>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nchor="ct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25a69ecd98_0_83"/>
          <p:cNvSpPr txBox="1"/>
          <p:nvPr>
            <p:ph type="title"/>
          </p:nvPr>
        </p:nvSpPr>
        <p:spPr>
          <a:xfrm>
            <a:off x="457200" y="774702"/>
            <a:ext cx="8229600" cy="803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lang="en-US"/>
              <a:t>Validation Plan</a:t>
            </a:r>
            <a:endParaRPr/>
          </a:p>
        </p:txBody>
      </p:sp>
      <p:graphicFrame>
        <p:nvGraphicFramePr>
          <p:cNvPr id="155" name="Google Shape;155;g325a69ecd98_0_83"/>
          <p:cNvGraphicFramePr/>
          <p:nvPr/>
        </p:nvGraphicFramePr>
        <p:xfrm>
          <a:off x="522225" y="1492700"/>
          <a:ext cx="3000000" cy="3000000"/>
        </p:xfrm>
        <a:graphic>
          <a:graphicData uri="http://schemas.openxmlformats.org/drawingml/2006/table">
            <a:tbl>
              <a:tblPr>
                <a:noFill/>
                <a:tableStyleId>{CC42FE31-0953-4F3C-ACFC-C735F2E23593}</a:tableStyleId>
              </a:tblPr>
              <a:tblGrid>
                <a:gridCol w="1734225"/>
                <a:gridCol w="3533225"/>
                <a:gridCol w="966825"/>
                <a:gridCol w="1608400"/>
              </a:tblGrid>
              <a:tr h="555300">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Test Name</a:t>
                      </a:r>
                      <a:endParaRPr b="1" sz="12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Success Criteria</a:t>
                      </a:r>
                      <a:endParaRPr b="1" sz="12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Status</a:t>
                      </a:r>
                      <a:endParaRPr b="1" sz="12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Responsible Engineers</a:t>
                      </a:r>
                      <a:endParaRPr b="1" sz="12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Clr>
                          <a:srgbClr val="000000"/>
                        </a:buClr>
                        <a:buSzPts val="1000"/>
                        <a:buFont typeface="Arial"/>
                        <a:buNone/>
                      </a:pPr>
                      <a:r>
                        <a:rPr lang="en-US" sz="1000"/>
                        <a:t>Picture Upload</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a:t>User can Upload pictures to profile.</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t>Untested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a:t>Alfonso Wong</a:t>
                      </a:r>
                      <a:endParaRPr sz="10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None/>
                      </a:pPr>
                      <a:r>
                        <a:rPr lang="en-US" sz="1000"/>
                        <a:t>MCU Peripherals Interface</a:t>
                      </a:r>
                      <a:endParaRPr sz="1000"/>
                    </a:p>
                  </a:txBody>
                  <a:tcPr marT="91425" marB="91425" marR="91425" marL="91425" anchor="ctr"/>
                </a:tc>
                <a:tc>
                  <a:txBody>
                    <a:bodyPr/>
                    <a:lstStyle/>
                    <a:p>
                      <a:pPr indent="0" lvl="0" marL="0" marR="0" rtl="0" algn="l">
                        <a:lnSpc>
                          <a:spcPct val="100000"/>
                        </a:lnSpc>
                        <a:spcBef>
                          <a:spcPts val="0"/>
                        </a:spcBef>
                        <a:spcAft>
                          <a:spcPts val="0"/>
                        </a:spcAft>
                        <a:buNone/>
                      </a:pPr>
                      <a:r>
                        <a:rPr lang="en-US" sz="1000"/>
                        <a:t>MCU reads signals from all sensors, and activates/deactivates alarm.</a:t>
                      </a:r>
                      <a:endParaRPr sz="1000"/>
                    </a:p>
                  </a:txBody>
                  <a:tcPr marT="91425" marB="91425" marR="91425" marL="91425" anchor="ctr"/>
                </a:tc>
                <a:tc>
                  <a:txBody>
                    <a:bodyPr/>
                    <a:lstStyle/>
                    <a:p>
                      <a:pPr indent="0" lvl="0" marL="0" marR="0" rtl="0" algn="ctr">
                        <a:lnSpc>
                          <a:spcPct val="100000"/>
                        </a:lnSpc>
                        <a:spcBef>
                          <a:spcPts val="0"/>
                        </a:spcBef>
                        <a:spcAft>
                          <a:spcPts val="0"/>
                        </a:spcAft>
                        <a:buNone/>
                      </a:pPr>
                      <a:r>
                        <a:rPr lang="en-US" sz="1000"/>
                        <a:t>Untested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None/>
                      </a:pPr>
                      <a:r>
                        <a:rPr lang="en-US" sz="1000"/>
                        <a:t>Martin Ford &amp; Oscar Hernandez</a:t>
                      </a:r>
                      <a:endParaRPr sz="1000"/>
                    </a:p>
                  </a:txBody>
                  <a:tcPr marT="91425" marB="91425" marR="91425" marL="91425" anchor="ctr"/>
                </a:tc>
              </a:tr>
              <a:tr h="454200">
                <a:tc>
                  <a:txBody>
                    <a:bodyPr/>
                    <a:lstStyle/>
                    <a:p>
                      <a:pPr indent="0" lvl="0" marL="0" rtl="0" algn="ctr">
                        <a:spcBef>
                          <a:spcPts val="0"/>
                        </a:spcBef>
                        <a:spcAft>
                          <a:spcPts val="0"/>
                        </a:spcAft>
                        <a:buClr>
                          <a:schemeClr val="dk1"/>
                        </a:buClr>
                        <a:buSzPts val="1000"/>
                        <a:buFont typeface="Arial"/>
                        <a:buNone/>
                      </a:pPr>
                      <a:r>
                        <a:rPr lang="en-US" sz="1000">
                          <a:solidFill>
                            <a:schemeClr val="dk1"/>
                          </a:solidFill>
                        </a:rPr>
                        <a:t>Device and Application Communication</a:t>
                      </a:r>
                      <a:endParaRPr sz="1000" u="none" cap="none" strike="noStrike"/>
                    </a:p>
                  </a:txBody>
                  <a:tcPr marT="91425" marB="91425" marR="91425" marL="91425" anchor="ctr"/>
                </a:tc>
                <a:tc>
                  <a:txBody>
                    <a:bodyPr/>
                    <a:lstStyle/>
                    <a:p>
                      <a:pPr indent="0" lvl="0" marL="0" rtl="0" algn="l">
                        <a:spcBef>
                          <a:spcPts val="0"/>
                        </a:spcBef>
                        <a:spcAft>
                          <a:spcPts val="0"/>
                        </a:spcAft>
                        <a:buClr>
                          <a:schemeClr val="dk1"/>
                        </a:buClr>
                        <a:buSzPts val="1000"/>
                        <a:buFont typeface="Arial"/>
                        <a:buNone/>
                      </a:pPr>
                      <a:r>
                        <a:rPr lang="en-US" sz="1000">
                          <a:solidFill>
                            <a:schemeClr val="dk1"/>
                          </a:solidFill>
                        </a:rPr>
                        <a:t>D</a:t>
                      </a:r>
                      <a:r>
                        <a:rPr lang="en-US" sz="1000">
                          <a:solidFill>
                            <a:schemeClr val="dk1"/>
                          </a:solidFill>
                        </a:rPr>
                        <a:t>evice(sensor) can be added to user profile in application.</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solidFill>
                            <a:schemeClr val="dk1"/>
                          </a:solidFill>
                        </a:rPr>
                        <a:t>Untested</a:t>
                      </a:r>
                      <a:endParaRPr sz="1000" u="none" cap="none" strike="noStrike"/>
                    </a:p>
                  </a:txBody>
                  <a:tcPr marT="91425" marB="91425" marR="91425" marL="91425" anchor="ctr"/>
                </a:tc>
                <a:tc>
                  <a:txBody>
                    <a:bodyPr/>
                    <a:lstStyle/>
                    <a:p>
                      <a:pPr indent="0" lvl="0" marL="0" rtl="0" algn="ctr">
                        <a:spcBef>
                          <a:spcPts val="0"/>
                        </a:spcBef>
                        <a:spcAft>
                          <a:spcPts val="0"/>
                        </a:spcAft>
                        <a:buClr>
                          <a:schemeClr val="dk1"/>
                        </a:buClr>
                        <a:buSzPts val="1000"/>
                        <a:buFont typeface="Arial"/>
                        <a:buNone/>
                      </a:pPr>
                      <a:r>
                        <a:rPr lang="en-US" sz="1000">
                          <a:solidFill>
                            <a:schemeClr val="dk1"/>
                          </a:solidFill>
                        </a:rPr>
                        <a:t>Alfonso Wong &amp; Oscar Hernandez</a:t>
                      </a:r>
                      <a:endParaRPr sz="10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Clr>
                          <a:srgbClr val="000000"/>
                        </a:buClr>
                        <a:buSzPts val="1000"/>
                        <a:buFont typeface="Arial"/>
                        <a:buNone/>
                      </a:pPr>
                      <a:r>
                        <a:rPr lang="en-US" sz="1000"/>
                        <a:t>Real Time Communication</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a:t>MC is feeding </a:t>
                      </a:r>
                      <a:r>
                        <a:rPr lang="en-US" sz="1000"/>
                        <a:t>constant</a:t>
                      </a:r>
                      <a:r>
                        <a:rPr lang="en-US" sz="1000"/>
                        <a:t> information to </a:t>
                      </a:r>
                      <a:r>
                        <a:rPr lang="en-US" sz="1000"/>
                        <a:t>database</a:t>
                      </a:r>
                      <a:r>
                        <a:rPr lang="en-US" sz="1000"/>
                        <a:t> and it is being displayed in real time in mobile application.</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solidFill>
                            <a:schemeClr val="dk1"/>
                          </a:solidFill>
                        </a:rPr>
                        <a:t>Untested</a:t>
                      </a:r>
                      <a:endParaRPr sz="1000" u="none" cap="none" strike="noStrike"/>
                    </a:p>
                  </a:txBody>
                  <a:tcPr marT="91425" marB="91425" marR="91425" marL="91425" anchor="ctr"/>
                </a:tc>
                <a:tc>
                  <a:txBody>
                    <a:bodyPr/>
                    <a:lstStyle/>
                    <a:p>
                      <a:pPr indent="0" lvl="0" marL="0" rtl="0" algn="ctr">
                        <a:spcBef>
                          <a:spcPts val="0"/>
                        </a:spcBef>
                        <a:spcAft>
                          <a:spcPts val="0"/>
                        </a:spcAft>
                        <a:buClr>
                          <a:schemeClr val="dk1"/>
                        </a:buClr>
                        <a:buSzPts val="1000"/>
                        <a:buFont typeface="Arial"/>
                        <a:buNone/>
                      </a:pPr>
                      <a:r>
                        <a:rPr lang="en-US" sz="1000">
                          <a:solidFill>
                            <a:schemeClr val="dk1"/>
                          </a:solidFill>
                        </a:rPr>
                        <a:t>Alfonso Wong &amp; Oscar Hernandez</a:t>
                      </a:r>
                      <a:endParaRPr sz="10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Clr>
                          <a:srgbClr val="000000"/>
                        </a:buClr>
                        <a:buSzPts val="1000"/>
                        <a:buFont typeface="Arial"/>
                        <a:buNone/>
                      </a:pPr>
                      <a:r>
                        <a:rPr lang="en-US" sz="1000"/>
                        <a:t>Trigger Warning from MC</a:t>
                      </a:r>
                      <a:endParaRPr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a:t>MC must send a tigger alert of ongoing event and application must send notification to user and dispatch</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solidFill>
                            <a:schemeClr val="dk1"/>
                          </a:solidFill>
                        </a:rPr>
                        <a:t>Untested</a:t>
                      </a:r>
                      <a:endParaRPr sz="10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a:t>Alfonso Wong &amp; </a:t>
                      </a:r>
                      <a:r>
                        <a:rPr lang="en-US" sz="1000" u="none" cap="none" strike="noStrike"/>
                        <a:t>Oscar Hernandez</a:t>
                      </a:r>
                      <a:endParaRPr sz="1000" u="none" cap="none" strike="noStrike"/>
                    </a:p>
                  </a:txBody>
                  <a:tcPr marT="91425" marB="91425" marR="91425" marL="91425" anchor="ctr"/>
                </a:tc>
              </a:tr>
              <a:tr h="493625">
                <a:tc>
                  <a:txBody>
                    <a:bodyPr/>
                    <a:lstStyle/>
                    <a:p>
                      <a:pPr indent="0" lvl="0" marL="0" marR="0" rtl="0" algn="ctr">
                        <a:lnSpc>
                          <a:spcPct val="100000"/>
                        </a:lnSpc>
                        <a:spcBef>
                          <a:spcPts val="0"/>
                        </a:spcBef>
                        <a:spcAft>
                          <a:spcPts val="0"/>
                        </a:spcAft>
                        <a:buNone/>
                      </a:pPr>
                      <a:r>
                        <a:rPr lang="en-US" sz="1000"/>
                        <a:t>Early Fire Detection</a:t>
                      </a:r>
                      <a:endParaRPr sz="1000"/>
                    </a:p>
                  </a:txBody>
                  <a:tcPr marT="91425" marB="91425" marR="91425" marL="91425" anchor="ctr"/>
                </a:tc>
                <a:tc>
                  <a:txBody>
                    <a:bodyPr/>
                    <a:lstStyle/>
                    <a:p>
                      <a:pPr indent="0" lvl="0" marL="0" marR="0" rtl="0" algn="l">
                        <a:lnSpc>
                          <a:spcPct val="100000"/>
                        </a:lnSpc>
                        <a:spcBef>
                          <a:spcPts val="0"/>
                        </a:spcBef>
                        <a:spcAft>
                          <a:spcPts val="0"/>
                        </a:spcAft>
                        <a:buNone/>
                      </a:pPr>
                      <a:r>
                        <a:rPr lang="en-US" sz="1000"/>
                        <a:t>The system reduces the propagation of a fire by minimizing false alarms and notifying the user or fire department as soon as a fire is detected.</a:t>
                      </a:r>
                      <a:endParaRPr sz="1000"/>
                    </a:p>
                  </a:txBody>
                  <a:tcPr marT="91425" marB="91425" marR="91425" marL="91425" anchor="ctr"/>
                </a:tc>
                <a:tc>
                  <a:txBody>
                    <a:bodyPr/>
                    <a:lstStyle/>
                    <a:p>
                      <a:pPr indent="0" lvl="0" marL="0" marR="0" rtl="0" algn="ctr">
                        <a:lnSpc>
                          <a:spcPct val="100000"/>
                        </a:lnSpc>
                        <a:spcBef>
                          <a:spcPts val="0"/>
                        </a:spcBef>
                        <a:spcAft>
                          <a:spcPts val="0"/>
                        </a:spcAft>
                        <a:buNone/>
                      </a:pPr>
                      <a:r>
                        <a:rPr lang="en-US" sz="1000">
                          <a:solidFill>
                            <a:schemeClr val="dk1"/>
                          </a:solidFill>
                        </a:rPr>
                        <a:t>Untested</a:t>
                      </a:r>
                      <a:endParaRPr sz="1000" u="none" cap="none" strike="noStrike">
                        <a:solidFill>
                          <a:schemeClr val="dk1"/>
                        </a:solidFill>
                      </a:endParaRPr>
                    </a:p>
                  </a:txBody>
                  <a:tcPr marT="91425" marB="91425" marR="91425" marL="91425" anchor="ctr"/>
                </a:tc>
                <a:tc>
                  <a:txBody>
                    <a:bodyPr/>
                    <a:lstStyle/>
                    <a:p>
                      <a:pPr indent="0" lvl="0" marL="0" marR="0" rtl="0" algn="ctr">
                        <a:lnSpc>
                          <a:spcPct val="100000"/>
                        </a:lnSpc>
                        <a:spcBef>
                          <a:spcPts val="0"/>
                        </a:spcBef>
                        <a:spcAft>
                          <a:spcPts val="0"/>
                        </a:spcAft>
                        <a:buNone/>
                      </a:pPr>
                      <a:r>
                        <a:rPr lang="en-US" sz="1000"/>
                        <a:t>All</a:t>
                      </a:r>
                      <a:endParaRPr sz="1000"/>
                    </a:p>
                  </a:txBody>
                  <a:tcPr marT="91425" marB="91425" marR="91425" marL="91425"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ph idx="1" type="body"/>
          </p:nvPr>
        </p:nvSpPr>
        <p:spPr>
          <a:xfrm>
            <a:off x="457200" y="1107545"/>
            <a:ext cx="8229600" cy="4077000"/>
          </a:xfrm>
          <a:prstGeom prst="rect">
            <a:avLst/>
          </a:prstGeom>
          <a:noFill/>
          <a:ln>
            <a:noFill/>
          </a:ln>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3200"/>
              <a:buNone/>
            </a:pPr>
            <a:r>
              <a:t/>
            </a:r>
            <a:endParaRPr b="1"/>
          </a:p>
          <a:p>
            <a:pPr indent="0" lvl="0" marL="0" rtl="0" algn="l">
              <a:spcBef>
                <a:spcPts val="360"/>
              </a:spcBef>
              <a:spcAft>
                <a:spcPts val="0"/>
              </a:spcAft>
              <a:buClr>
                <a:schemeClr val="dk1"/>
              </a:buClr>
              <a:buSzPts val="3200"/>
              <a:buNone/>
            </a:pPr>
            <a:r>
              <a:t/>
            </a:r>
            <a:endParaRPr b="1"/>
          </a:p>
          <a:p>
            <a:pPr indent="0" lvl="0" marL="0" rtl="0" algn="ctr">
              <a:spcBef>
                <a:spcPts val="360"/>
              </a:spcBef>
              <a:spcAft>
                <a:spcPts val="0"/>
              </a:spcAft>
              <a:buClr>
                <a:schemeClr val="dk1"/>
              </a:buClr>
              <a:buSzPts val="3200"/>
              <a:buNone/>
            </a:pPr>
            <a:r>
              <a:t/>
            </a:r>
            <a:endParaRPr b="1"/>
          </a:p>
          <a:p>
            <a:pPr indent="0" lvl="0" marL="0" rtl="0" algn="ctr">
              <a:spcBef>
                <a:spcPts val="360"/>
              </a:spcBef>
              <a:spcAft>
                <a:spcPts val="0"/>
              </a:spcAft>
              <a:buClr>
                <a:schemeClr val="dk1"/>
              </a:buClr>
              <a:buSzPts val="3200"/>
              <a:buNone/>
            </a:pPr>
            <a:r>
              <a:rPr b="1" lang="en-US"/>
              <a:t>Thank you for your attention!</a:t>
            </a:r>
            <a:endParaRPr b="1"/>
          </a:p>
          <a:p>
            <a:pPr indent="0" lvl="0" marL="0" rtl="0" algn="ctr">
              <a:spcBef>
                <a:spcPts val="360"/>
              </a:spcBef>
              <a:spcAft>
                <a:spcPts val="0"/>
              </a:spcAft>
              <a:buClr>
                <a:schemeClr val="dk1"/>
              </a:buClr>
              <a:buSzPts val="3200"/>
              <a:buNone/>
            </a:pPr>
            <a:r>
              <a:t/>
            </a:r>
            <a:endParaRPr b="1"/>
          </a:p>
          <a:p>
            <a:pPr indent="0" lvl="0" marL="0" rtl="0" algn="ctr">
              <a:spcBef>
                <a:spcPts val="360"/>
              </a:spcBef>
              <a:spcAft>
                <a:spcPts val="0"/>
              </a:spcAft>
              <a:buClr>
                <a:schemeClr val="dk1"/>
              </a:buClr>
              <a:buSzPts val="3200"/>
              <a:buNone/>
            </a:pPr>
            <a:r>
              <a:rPr b="1" lang="en-US"/>
              <a:t>Questions?</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2013-06-18T16:37:55Z</dcterms:created>
  <dc:creator>Nowka, Kevin J.</dc:creator>
</cp:coreProperties>
</file>