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3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gU+YyiXM+CZp32UJZ3wnzFZK4x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Oscar Hernandez Zelay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FA81E9-8E8D-4FDF-B484-7CFB18D8F5AD}">
  <a:tblStyle styleId="{27FA81E9-8E8D-4FDF-B484-7CFB18D8F5A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E9979E3-246F-4BC7-9330-2094B69B2C75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F3E886A3-8297-46CC-98CE-A875167F6E6A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21" Type="http://customschemas.google.com/relationships/presentationmetadata" Target="meta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commentAuthors" Target="commentAuthors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1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3-03T18:12:50.467">
    <p:pos x="6000" y="0"/>
    <p:text>Change BLE symbol with actual screenshot from the app if image is available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fDBHWKI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5-03-03T18:14:53.988">
    <p:pos x="6000" y="0"/>
    <p:text>to be done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fHh_uQQ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5-03-03T18:15:23.668">
    <p:pos x="6000" y="0"/>
    <p:text>Edit: Marked the Sensor Functionality as tested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fHh_uPw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56" name="Google Shape;5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3bd10ea7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Kyle</a:t>
            </a:r>
            <a:endParaRPr/>
          </a:p>
        </p:txBody>
      </p:sp>
      <p:sp>
        <p:nvSpPr>
          <p:cNvPr id="63" name="Google Shape;63;g33bd10ea73c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bd10ea73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1" name="Google Shape;71;g33bd10ea73c_0_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7" name="Google Shape;7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bd10ea73c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3" name="Google Shape;83;g33bd10ea73c_0_4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bd10ea73c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9" name="Google Shape;89;g33bd10ea73c_0_5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3c0864761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5" name="Google Shape;95;g33c0864761c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3bd10ea73c_0_45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3bd10ea73c_0_4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3bd10ea73c_0_4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3c0864761c_1_10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3c0864761c_1_1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3c0864761c_1_1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bd10ea73c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3bd10ea73c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bd10ea73c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*Marked MCU Peripherals Interface </a:t>
            </a:r>
            <a:endParaRPr/>
          </a:p>
        </p:txBody>
      </p:sp>
      <p:sp>
        <p:nvSpPr>
          <p:cNvPr id="133" name="Google Shape;133;g33bd10ea73c_1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293a8c501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3293a8c50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1" name="Google Shape;2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4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7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2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0hZ2qP7vBb_XYDEAn8BJkEbDy-zVNwhs/view" TargetMode="External"/><Relationship Id="rId4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gif"/><Relationship Id="rId4" Type="http://schemas.openxmlformats.org/officeDocument/2006/relationships/hyperlink" Target="http://drive.google.com/file/d/1RO4cfy2fdZvit6zK-XIUhr28Vfb2Zg0M/view" TargetMode="External"/><Relationship Id="rId5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3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/>
          <p:nvPr>
            <p:ph type="ctrTitle"/>
          </p:nvPr>
        </p:nvSpPr>
        <p:spPr>
          <a:xfrm>
            <a:off x="1619250" y="3814625"/>
            <a:ext cx="7302600" cy="22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Team 24: Pyro Sensor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350353"/>
              <a:buFont typeface="Arial"/>
              <a:buNone/>
            </a:pPr>
            <a:r>
              <a:rPr lang="en-US"/>
              <a:t>Bi-Weekly Update 4</a:t>
            </a:r>
            <a:br>
              <a:rPr lang="en-US"/>
            </a:br>
            <a:r>
              <a:rPr lang="en-US" sz="2455"/>
              <a:t>Alfonso Wong </a:t>
            </a:r>
            <a:endParaRPr sz="2455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1"/>
              <a:buFont typeface="Arial"/>
              <a:buNone/>
            </a:pPr>
            <a:r>
              <a:rPr lang="en-US" sz="2455"/>
              <a:t>Martin Ford </a:t>
            </a:r>
            <a:endParaRPr sz="2455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1"/>
              <a:buFont typeface="Arial"/>
              <a:buNone/>
            </a:pPr>
            <a:r>
              <a:rPr lang="en-US" sz="2455"/>
              <a:t>Oscar Hernandez</a:t>
            </a:r>
            <a:br>
              <a:rPr lang="en-US" sz="2455"/>
            </a:br>
            <a:r>
              <a:rPr lang="en-US" sz="2455"/>
              <a:t>Sponsor: Rhett Guthrie</a:t>
            </a:r>
            <a:br>
              <a:rPr lang="en-US" sz="2455"/>
            </a:br>
            <a:r>
              <a:rPr lang="en-US" sz="2455"/>
              <a:t>TA: Niloofar Borzooei</a:t>
            </a:r>
            <a:br>
              <a:rPr lang="en-US" sz="2455"/>
            </a:br>
            <a:endParaRPr sz="2455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60" name="Google Shape;6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bd10ea73c_0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Summary</a:t>
            </a:r>
            <a:endParaRPr/>
          </a:p>
        </p:txBody>
      </p:sp>
      <p:sp>
        <p:nvSpPr>
          <p:cNvPr id="66" name="Google Shape;66;g33bd10ea73c_0_0"/>
          <p:cNvSpPr txBox="1"/>
          <p:nvPr>
            <p:ph idx="1" type="body"/>
          </p:nvPr>
        </p:nvSpPr>
        <p:spPr>
          <a:xfrm>
            <a:off x="457200" y="2049275"/>
            <a:ext cx="45321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Problem statement: </a:t>
            </a:r>
            <a:endParaRPr sz="2400"/>
          </a:p>
          <a:p>
            <a:pPr indent="-29210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–"/>
            </a:pPr>
            <a:r>
              <a:rPr lang="en-US" sz="1900"/>
              <a:t>Modern smoke detectors do not directly notify the emergency responders</a:t>
            </a:r>
            <a:endParaRPr sz="1900"/>
          </a:p>
          <a:p>
            <a:pPr indent="-29210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–"/>
            </a:pPr>
            <a:r>
              <a:rPr lang="en-US" sz="1900"/>
              <a:t>Fire department has limited data of residents in buildings</a:t>
            </a:r>
            <a:endParaRPr sz="1900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Our Pyro Sensor will:</a:t>
            </a:r>
            <a:endParaRPr sz="2400"/>
          </a:p>
          <a:p>
            <a:pPr indent="-29210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–"/>
            </a:pPr>
            <a:r>
              <a:rPr lang="en-US" sz="1900"/>
              <a:t>Notify any user and emergency responders instantly through a mobile app of any incident</a:t>
            </a:r>
            <a:endParaRPr sz="1900"/>
          </a:p>
          <a:p>
            <a:pPr indent="-29210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–"/>
            </a:pPr>
            <a:r>
              <a:rPr lang="en-US" sz="1900"/>
              <a:t>Give fire department information about residents and pets</a:t>
            </a:r>
            <a:endParaRPr sz="1900"/>
          </a:p>
          <a:p>
            <a:pPr indent="0" lvl="0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600"/>
          </a:p>
        </p:txBody>
      </p:sp>
      <p:sp>
        <p:nvSpPr>
          <p:cNvPr id="67" name="Google Shape;67;g33bd10ea73c_0_0"/>
          <p:cNvSpPr txBox="1"/>
          <p:nvPr/>
        </p:nvSpPr>
        <p:spPr>
          <a:xfrm>
            <a:off x="6204155" y="3185652"/>
            <a:ext cx="201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g33bd10ea73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5550" y="3050475"/>
            <a:ext cx="4268449" cy="208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3bd10ea73c_0_5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Integrated System Diagram  </a:t>
            </a:r>
            <a:endParaRPr/>
          </a:p>
        </p:txBody>
      </p:sp>
      <p:pic>
        <p:nvPicPr>
          <p:cNvPr id="74" name="Google Shape;74;g33bd10ea73c_0_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155227"/>
            <a:ext cx="8839201" cy="362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Timeline </a:t>
            </a:r>
            <a:endParaRPr/>
          </a:p>
        </p:txBody>
      </p:sp>
      <p:graphicFrame>
        <p:nvGraphicFramePr>
          <p:cNvPr id="80" name="Google Shape;80;p5"/>
          <p:cNvGraphicFramePr/>
          <p:nvPr/>
        </p:nvGraphicFramePr>
        <p:xfrm>
          <a:off x="230909" y="27869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{27FA81E9-8E8D-4FDF-B484-7CFB18D8F5AD}</a:tableStyleId>
              </a:tblPr>
              <a:tblGrid>
                <a:gridCol w="1245350"/>
                <a:gridCol w="1240575"/>
                <a:gridCol w="1242975"/>
                <a:gridCol w="1252525"/>
                <a:gridCol w="1308550"/>
                <a:gridCol w="1182175"/>
                <a:gridCol w="1099200"/>
              </a:tblGrid>
              <a:tr h="1387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Integration of mobile app and MCU (completed 2/28)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Subsystem Designs and Testing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(completed 3/1)</a:t>
                      </a:r>
                      <a:endParaRPr sz="1300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Integration of </a:t>
                      </a:r>
                      <a:r>
                        <a:rPr lang="en-US" sz="1300"/>
                        <a:t>Hardware</a:t>
                      </a:r>
                      <a:r>
                        <a:rPr lang="en-US" sz="1300" u="none" cap="none" strike="noStrike"/>
                        <a:t>  and </a:t>
                      </a:r>
                      <a:r>
                        <a:rPr lang="en-US" sz="1300"/>
                        <a:t>MCU</a:t>
                      </a:r>
                      <a:r>
                        <a:rPr lang="en-US" sz="1300" u="none" cap="none" strike="noStrike"/>
                        <a:t> 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(completed </a:t>
                      </a:r>
                      <a:r>
                        <a:rPr lang="en-US" sz="1300"/>
                        <a:t>3</a:t>
                      </a:r>
                      <a:r>
                        <a:rPr lang="en-US" sz="1300" u="none" cap="none" strike="noStrike"/>
                        <a:t>/</a:t>
                      </a:r>
                      <a:r>
                        <a:rPr lang="en-US" sz="1300"/>
                        <a:t>2</a:t>
                      </a:r>
                      <a:r>
                        <a:rPr lang="en-US" sz="1300" u="none" cap="none" strike="noStrike"/>
                        <a:t>)</a:t>
                      </a:r>
                      <a:endParaRPr sz="1300" u="none" cap="none" strike="noStrike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Final Integration 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(completed </a:t>
                      </a:r>
                      <a:r>
                        <a:rPr lang="en-US" sz="1300"/>
                        <a:t>3/2</a:t>
                      </a:r>
                      <a:r>
                        <a:rPr lang="en-US" sz="1300" u="none" cap="none" strike="noStrike"/>
                        <a:t>)</a:t>
                      </a:r>
                      <a:endParaRPr sz="1300" u="none" cap="none" strike="noStrike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Full </a:t>
                      </a:r>
                      <a:r>
                        <a:rPr lang="en-US" sz="1300" u="none" cap="none" strike="noStrike"/>
                        <a:t>System Test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(to complete by </a:t>
                      </a:r>
                      <a:r>
                        <a:rPr lang="en-US" sz="1300"/>
                        <a:t>3</a:t>
                      </a:r>
                      <a:r>
                        <a:rPr lang="en-US" sz="1300" u="none" cap="none" strike="noStrike"/>
                        <a:t>/</a:t>
                      </a:r>
                      <a:r>
                        <a:rPr lang="en-US" sz="1300"/>
                        <a:t>20</a:t>
                      </a:r>
                      <a:r>
                        <a:rPr lang="en-US" sz="1300" u="none" cap="none" strike="noStrike"/>
                        <a:t>)</a:t>
                      </a:r>
                      <a:endParaRPr sz="1300" u="none" cap="none" strike="noStrike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Validation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(to complete by </a:t>
                      </a:r>
                      <a:r>
                        <a:rPr lang="en-US" sz="1300"/>
                        <a:t>4/3</a:t>
                      </a:r>
                      <a:r>
                        <a:rPr lang="en-US" sz="1300" u="none" cap="none" strike="noStrike"/>
                        <a:t>)</a:t>
                      </a:r>
                      <a:endParaRPr sz="1300" u="none" cap="none" strike="noStrike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Demo and Report 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(to complete by </a:t>
                      </a:r>
                      <a:r>
                        <a:rPr lang="en-US" sz="1300"/>
                        <a:t>4/24</a:t>
                      </a:r>
                      <a:r>
                        <a:rPr lang="en-US" sz="1300" u="none" cap="none" strike="noStrike"/>
                        <a:t>)</a:t>
                      </a:r>
                      <a:endParaRPr sz="1300" u="none" cap="none" strike="noStrike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bd10ea73c_0_471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Martin Ford </a:t>
            </a:r>
            <a:endParaRPr/>
          </a:p>
        </p:txBody>
      </p:sp>
      <p:graphicFrame>
        <p:nvGraphicFramePr>
          <p:cNvPr id="86" name="Google Shape;86;g33bd10ea73c_0_471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{27FA81E9-8E8D-4FDF-B484-7CFB18D8F5AD}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 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2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Soldered and tested PCB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Completed subsystem integration:</a:t>
                      </a: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Solved linked sensor signals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Calibrated signals to MCU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Verified full sensor-to-alarm process</a:t>
                      </a:r>
                      <a:endParaRPr sz="1800"/>
                    </a:p>
                    <a:p>
                      <a:pPr indent="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Continue testing and validation under different conditions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Alarm volume testing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Power source testing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bd10ea73c_0_50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Oscar Hernandez </a:t>
            </a:r>
            <a:endParaRPr/>
          </a:p>
        </p:txBody>
      </p:sp>
      <p:graphicFrame>
        <p:nvGraphicFramePr>
          <p:cNvPr id="92" name="Google Shape;92;g33bd10ea73c_0_502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{27FA81E9-8E8D-4FDF-B484-7CFB18D8F5AD}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27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3219675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Updated BLE code to allow multiple connection attempts and fixed issue preventing connections to open networks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Verified that latency from Firebase to app is less than 1 s.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Improved accuracy of ADC readings based on oscilloscope measurements from the new PCB  </a:t>
                      </a:r>
                      <a:endParaRPr sz="1800"/>
                    </a:p>
                    <a:p>
                      <a:pPr indent="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Adding multiple devices test to a user profile. 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False alarm test to ensure the buzzer isn't triggered by non-hazardous sources, and alarm signal is not sent to user.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Verify quick notification time from fire detection to user alert.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3c0864761c_1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Alfonso Wong</a:t>
            </a:r>
            <a:endParaRPr/>
          </a:p>
        </p:txBody>
      </p:sp>
      <p:graphicFrame>
        <p:nvGraphicFramePr>
          <p:cNvPr id="98" name="Google Shape;98;g33c0864761c_1_0"/>
          <p:cNvGraphicFramePr/>
          <p:nvPr/>
        </p:nvGraphicFramePr>
        <p:xfrm>
          <a:off x="3845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{1E9979E3-246F-4BC7-9330-2094B69B2C75}</a:tableStyleId>
              </a:tblPr>
              <a:tblGrid>
                <a:gridCol w="4192725"/>
                <a:gridCol w="4192725"/>
              </a:tblGrid>
              <a:tr h="1016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56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359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-US" sz="1600" u="none" cap="none" strike="noStrike"/>
                        <a:t>The mobile application is back up and running and able to pull data from the database (Firebase)</a:t>
                      </a:r>
                      <a:endParaRPr sz="1600" u="none" cap="none" strike="noStrike"/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-US" sz="1600" u="none" cap="none" strike="noStrike"/>
                        <a:t>MCU can access mobile app database</a:t>
                      </a:r>
                      <a:endParaRPr sz="1600" u="none" cap="none" strike="noStrike"/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-US" sz="1600" u="none" cap="none" strike="noStrike"/>
                        <a:t>UI feature for adding device to app finished</a:t>
                      </a:r>
                      <a:endParaRPr sz="1600" u="none" cap="none" strike="noStrike"/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-US" sz="1600" u="none" cap="none" strike="noStrike"/>
                        <a:t>Pictures can know be uploaded</a:t>
                      </a:r>
                      <a:endParaRPr sz="1600"/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n-US" sz="1600"/>
                        <a:t>App creates access code during workspace creation</a:t>
                      </a:r>
                      <a:endParaRPr sz="1600"/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n-US" sz="1600"/>
                        <a:t>Firefighter’s sign in page</a:t>
                      </a:r>
                      <a:endParaRPr sz="1600"/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n-US" sz="1600"/>
                        <a:t>Alert text message to central dispatcher(Twilio API)</a:t>
                      </a:r>
                      <a:endParaRPr sz="1600"/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n-US" sz="1600"/>
                        <a:t>First half of firefighters in app view</a:t>
                      </a:r>
                      <a:endParaRPr sz="16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/>
                        <a:t>Finish second half of fixing in-app view for firefighters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Fire tracking feature with real-time data provided by MCU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3bd10ea73c_0_458"/>
          <p:cNvSpPr txBox="1"/>
          <p:nvPr>
            <p:ph type="title"/>
          </p:nvPr>
        </p:nvSpPr>
        <p:spPr>
          <a:xfrm>
            <a:off x="457200" y="744452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Sensor Functionality Test </a:t>
            </a:r>
            <a:endParaRPr/>
          </a:p>
        </p:txBody>
      </p:sp>
      <p:sp>
        <p:nvSpPr>
          <p:cNvPr id="105" name="Google Shape;105;g33bd10ea73c_0_458"/>
          <p:cNvSpPr txBox="1"/>
          <p:nvPr>
            <p:ph idx="1" type="body"/>
          </p:nvPr>
        </p:nvSpPr>
        <p:spPr>
          <a:xfrm>
            <a:off x="136850" y="4488325"/>
            <a:ext cx="8229600" cy="198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MCU reads precise voltages using the ADC and I2C.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The alarm goes off when the infrared sensor, ultraviolet sensor, and gas (MQ2) sensor are activated.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The alarm shuts off when it detects that none of the sensors have detected fire.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06" name="Google Shape;106;g33bd10ea73c_0_458" title="IMG_8630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4038" y="1712725"/>
            <a:ext cx="1975925" cy="261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33bd10ea73c_0_458"/>
          <p:cNvSpPr txBox="1"/>
          <p:nvPr/>
        </p:nvSpPr>
        <p:spPr>
          <a:xfrm>
            <a:off x="2392500" y="1296900"/>
            <a:ext cx="435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Oscar Hernandez and Martin Ford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3c0864761c_1_108"/>
          <p:cNvSpPr txBox="1"/>
          <p:nvPr>
            <p:ph type="title"/>
          </p:nvPr>
        </p:nvSpPr>
        <p:spPr>
          <a:xfrm>
            <a:off x="457200" y="717102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MCU-App Integration</a:t>
            </a:r>
            <a:endParaRPr sz="2980"/>
          </a:p>
        </p:txBody>
      </p:sp>
      <p:sp>
        <p:nvSpPr>
          <p:cNvPr id="114" name="Google Shape;114;g33c0864761c_1_108"/>
          <p:cNvSpPr txBox="1"/>
          <p:nvPr/>
        </p:nvSpPr>
        <p:spPr>
          <a:xfrm>
            <a:off x="2392500" y="1296900"/>
            <a:ext cx="435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Oscar Hernandez and Alfonso Wong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15" name="Google Shape;115;g33c0864761c_1_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9351" y="1789524"/>
            <a:ext cx="2246787" cy="4992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33c0864761c_1_108" title="screen-20250303-125929 - Trim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7850" y="1789500"/>
            <a:ext cx="2246800" cy="4992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 txBox="1"/>
          <p:nvPr>
            <p:ph type="title"/>
          </p:nvPr>
        </p:nvSpPr>
        <p:spPr>
          <a:xfrm>
            <a:off x="457200" y="8967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Plan </a:t>
            </a:r>
            <a:endParaRPr/>
          </a:p>
        </p:txBody>
      </p:sp>
      <p:pic>
        <p:nvPicPr>
          <p:cNvPr id="122" name="Google Shape;12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93352"/>
            <a:ext cx="8839200" cy="3671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529336"/>
            <a:ext cx="9144000" cy="3799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3350" y="5328664"/>
            <a:ext cx="5200650" cy="84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bd10ea73c_1_8"/>
          <p:cNvSpPr txBox="1"/>
          <p:nvPr>
            <p:ph type="title"/>
          </p:nvPr>
        </p:nvSpPr>
        <p:spPr>
          <a:xfrm>
            <a:off x="457200" y="774702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Validation Plan</a:t>
            </a:r>
            <a:endParaRPr/>
          </a:p>
        </p:txBody>
      </p:sp>
      <p:graphicFrame>
        <p:nvGraphicFramePr>
          <p:cNvPr id="130" name="Google Shape;130;g33bd10ea73c_1_8"/>
          <p:cNvGraphicFramePr/>
          <p:nvPr/>
        </p:nvGraphicFramePr>
        <p:xfrm>
          <a:off x="522225" y="149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{F3E886A3-8297-46CC-98CE-A875167F6E6A}</a:tableStyleId>
              </a:tblPr>
              <a:tblGrid>
                <a:gridCol w="974875"/>
                <a:gridCol w="1509225"/>
                <a:gridCol w="3249675"/>
                <a:gridCol w="791750"/>
                <a:gridCol w="1317150"/>
              </a:tblGrid>
              <a:tr h="555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Paragraph #</a:t>
                      </a:r>
                      <a:endParaRPr b="1"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Test Name</a:t>
                      </a:r>
                      <a:endParaRPr b="1"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Success Criteria</a:t>
                      </a:r>
                      <a:endParaRPr b="1"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Status</a:t>
                      </a:r>
                      <a:endParaRPr b="1"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Responsible Engineers</a:t>
                      </a:r>
                      <a:endParaRPr b="1" sz="12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3.2.1.1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Sensor Functionality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Sensors detect smoke/flame at expected ranges and output a signal.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Martin Ford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5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3.2.2.6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Speaker Functionality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Speaker emits sound from signal at &gt;</a:t>
                      </a:r>
                      <a:r>
                        <a:rPr lang="en-US" sz="1000"/>
                        <a:t>65</a:t>
                      </a:r>
                      <a:r>
                        <a:rPr lang="en-US" sz="1000" u="none" cap="none" strike="noStrike"/>
                        <a:t> dB.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Untested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Martin Ford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3.2.2.5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Operating Time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System operates and receives full power continuously for 1 hour on each power source. 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Untested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Martin Ford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      3.2.1.4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             Network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 MCU is able to aggregate </a:t>
                      </a:r>
                      <a:r>
                        <a:rPr lang="en-US" sz="1000"/>
                        <a:t>data from sensors</a:t>
                      </a:r>
                      <a:r>
                        <a:rPr lang="en-US" sz="1000" u="none" cap="none" strike="noStrike"/>
                        <a:t> to </a:t>
                      </a:r>
                      <a:r>
                        <a:rPr lang="en-US" sz="1000"/>
                        <a:t>a Access Point</a:t>
                      </a:r>
                      <a:r>
                        <a:rPr lang="en-US" sz="1000" u="none" cap="none" strike="noStrike"/>
                        <a:t>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Oscar Hernandez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3.2.1.14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Trouble Signal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MCU sends trouble signal to app for malfunction</a:t>
                      </a:r>
                      <a:r>
                        <a:rPr lang="en-US" sz="1000"/>
                        <a:t>s.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Tested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Oscar Hernandez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354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3.2.1.8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User Profile Creation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User is able to create an account and be able to sign in.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Alfonso Wong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3.2.1.9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Push Notifications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Be able to push notifications to users and send text </a:t>
                      </a:r>
                      <a:r>
                        <a:rPr lang="en-US" sz="1000"/>
                        <a:t>to</a:t>
                      </a:r>
                      <a:r>
                        <a:rPr lang="en-US" sz="1000" u="none" cap="none" strike="noStrike"/>
                        <a:t> </a:t>
                      </a:r>
                      <a:r>
                        <a:rPr lang="en-US" sz="1000"/>
                        <a:t>central dispatcher</a:t>
                      </a:r>
                      <a:r>
                        <a:rPr lang="en-US" sz="1000" u="none" cap="none" strike="noStrike"/>
                        <a:t>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T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Alfonso Wong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3.2.1.10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Design UI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Have a working UI and test with emulator.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Alfonso Wong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3.2.1.11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Integrate Cloud Service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Mobile app has ability to pull data from cloud service and display it.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Alfonso Wong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3bd10ea73c_1_58"/>
          <p:cNvSpPr txBox="1"/>
          <p:nvPr>
            <p:ph type="title"/>
          </p:nvPr>
        </p:nvSpPr>
        <p:spPr>
          <a:xfrm>
            <a:off x="457200" y="774702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Validation Plan</a:t>
            </a:r>
            <a:endParaRPr/>
          </a:p>
        </p:txBody>
      </p:sp>
      <p:graphicFrame>
        <p:nvGraphicFramePr>
          <p:cNvPr id="136" name="Google Shape;136;g33bd10ea73c_1_58"/>
          <p:cNvGraphicFramePr/>
          <p:nvPr/>
        </p:nvGraphicFramePr>
        <p:xfrm>
          <a:off x="522225" y="149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{F3E886A3-8297-46CC-98CE-A875167F6E6A}</a:tableStyleId>
              </a:tblPr>
              <a:tblGrid>
                <a:gridCol w="990025"/>
                <a:gridCol w="1604525"/>
                <a:gridCol w="3139225"/>
                <a:gridCol w="791750"/>
                <a:gridCol w="1317150"/>
              </a:tblGrid>
              <a:tr h="555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Paragraph #</a:t>
                      </a:r>
                      <a:endParaRPr b="1"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Test Name</a:t>
                      </a:r>
                      <a:endParaRPr b="1"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Success Criteria</a:t>
                      </a:r>
                      <a:endParaRPr b="1"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Status</a:t>
                      </a:r>
                      <a:endParaRPr b="1"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Responsible Engineers</a:t>
                      </a:r>
                      <a:endParaRPr b="1" sz="12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3.2.1.6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App compatible on Android devices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App can be used on most Android devices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Alfonso Wong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3.2.1.1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MCU Peripherals Interface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MCU reads signals from all sensors, and activates/deactivates alarm.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Martin Ford &amp; Oscar Hernandez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5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3.2.1.12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Device and Application Communication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A new d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evice can be added to user profile in application.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Untested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Alfonso Wong &amp; Oscar Hernandez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3.2.2.13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Real Time Communication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MCU is feeding constant information to database and it is being displayed in real time in mobile application.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Alfonso Wong &amp; Oscar Hernandez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3.2.1.9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Trigger Warning from MC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MCU must send a t</a:t>
                      </a:r>
                      <a:r>
                        <a:rPr lang="en-US" sz="1000"/>
                        <a:t>rigger</a:t>
                      </a:r>
                      <a:r>
                        <a:rPr lang="en-US" sz="1000" u="none" cap="none" strike="noStrike"/>
                        <a:t> alert of ongoing event and application must send notification to user and dispatch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Untested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Alfonso Wong &amp; Oscar Hernandez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3.2.1.5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Early Fire Detection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The system reduces the propagation of a fire by minimizing false alarms and notifying the user or fire department as soon as a fire is detected.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Untested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All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3293a8c501_1_0"/>
          <p:cNvSpPr txBox="1"/>
          <p:nvPr>
            <p:ph idx="1" type="body"/>
          </p:nvPr>
        </p:nvSpPr>
        <p:spPr>
          <a:xfrm>
            <a:off x="457200" y="1107545"/>
            <a:ext cx="82296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Thank you for your attention!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Questions?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Nowka, Kevin J.</dc:creator>
</cp:coreProperties>
</file>